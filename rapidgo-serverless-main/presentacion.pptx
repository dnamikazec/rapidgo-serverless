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73" r:id="rId8"/>
    <p:sldId id="274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8288000" cy="10287000"/>
  <p:notesSz cx="6858000" cy="9144000"/>
  <p:embeddedFontLst>
    <p:embeddedFont>
      <p:font typeface="Helvetica World" panose="020B0604020202020204" charset="-128"/>
      <p:regular r:id="rId21"/>
    </p:embeddedFont>
    <p:embeddedFont>
      <p:font typeface="Helvetica World Bold" panose="020B0604020202020204" charset="-128"/>
      <p:regular r:id="rId22"/>
    </p:embeddedFont>
    <p:embeddedFont>
      <p:font typeface="Garet Bold" panose="020B0604020202020204" charset="0"/>
      <p:regular r:id="rId23"/>
    </p:embeddedFont>
    <p:embeddedFont>
      <p:font typeface="Gelasio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60C2FF"/>
    <a:srgbClr val="6A9B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87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D4C414-B1B8-41F5-A084-3B9EB7F2AC4E}" type="datetimeFigureOut">
              <a:rPr lang="es-CO" smtClean="0"/>
              <a:t>29/05/2026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30720-7F31-4952-A005-F0E577506FD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16475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79057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8361" y="9688982"/>
            <a:ext cx="2143686" cy="51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5720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8361" y="9688982"/>
            <a:ext cx="2143686" cy="51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1636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8361" y="9688982"/>
            <a:ext cx="2143686" cy="51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417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8361" y="9688982"/>
            <a:ext cx="2143686" cy="51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3769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8361" y="9688982"/>
            <a:ext cx="2143686" cy="51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4547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8361" y="9688982"/>
            <a:ext cx="2143686" cy="51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0345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8361" y="9688982"/>
            <a:ext cx="2143686" cy="51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2282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8361" y="9688982"/>
            <a:ext cx="2143686" cy="51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9729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8361" y="9688982"/>
            <a:ext cx="2143686" cy="51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2789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8361" y="9688982"/>
            <a:ext cx="2143686" cy="51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2771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8361" y="9688982"/>
            <a:ext cx="2143686" cy="51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734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8361" y="9688982"/>
            <a:ext cx="2143686" cy="51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2052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8361" y="9688982"/>
            <a:ext cx="2143686" cy="51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2935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8361" y="9688982"/>
            <a:ext cx="2143686" cy="51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7102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8361" y="9688982"/>
            <a:ext cx="2143686" cy="51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9328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8361" y="9688982"/>
            <a:ext cx="2143686" cy="51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0688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8361" y="9688982"/>
            <a:ext cx="2143686" cy="51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395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081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sldNum="0" hdr="0" ftr="0" dt="0"/>
  <p:txStyles>
    <p:titleStyle>
      <a:lvl1pPr algn="ctr" defTabSz="1828800" rtl="0" eaLnBrk="1" latinLnBrk="0" hangingPunct="1"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0" indent="-685800" algn="l" defTabSz="1828800" rtl="0" eaLnBrk="1" latinLnBrk="0" hangingPunct="1">
        <a:spcBef>
          <a:spcPct val="20000"/>
        </a:spcBef>
        <a:buFont typeface="Arial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1pPr>
      <a:lvl2pPr marL="1485900" indent="-571500" algn="l" defTabSz="1828800" rtl="0" eaLnBrk="1" latinLnBrk="0" hangingPunct="1">
        <a:spcBef>
          <a:spcPct val="20000"/>
        </a:spcBef>
        <a:buFont typeface="Arial" pitchFamily="34" charset="0"/>
        <a:buChar char="–"/>
        <a:defRPr sz="56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spcBef>
          <a:spcPct val="20000"/>
        </a:spcBef>
        <a:buFont typeface="Arial" pitchFamily="34" charset="0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spcBef>
          <a:spcPct val="20000"/>
        </a:spcBef>
        <a:buFont typeface="Arial" pitchFamily="34" charset="0"/>
        <a:buChar char="»"/>
        <a:defRPr sz="40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7458190">
            <a:off x="10477411" y="-4291124"/>
            <a:ext cx="13610886" cy="8302196"/>
            <a:chOff x="0" y="0"/>
            <a:chExt cx="1476351" cy="9005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76351" cy="900526"/>
            </a:xfrm>
            <a:custGeom>
              <a:avLst/>
              <a:gdLst/>
              <a:ahLst/>
              <a:cxnLst/>
              <a:rect l="l" t="t" r="r" b="b"/>
              <a:pathLst>
                <a:path w="1476351" h="900526">
                  <a:moveTo>
                    <a:pt x="0" y="0"/>
                  </a:moveTo>
                  <a:lnTo>
                    <a:pt x="1476351" y="0"/>
                  </a:lnTo>
                  <a:lnTo>
                    <a:pt x="1476351" y="900526"/>
                  </a:lnTo>
                  <a:lnTo>
                    <a:pt x="0" y="900526"/>
                  </a:lnTo>
                  <a:close/>
                </a:path>
              </a:pathLst>
            </a:custGeom>
            <a:solidFill>
              <a:srgbClr val="4A90E2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61925"/>
              <a:ext cx="1476351" cy="1062451"/>
            </a:xfrm>
            <a:prstGeom prst="rect">
              <a:avLst/>
            </a:prstGeom>
          </p:spPr>
          <p:txBody>
            <a:bodyPr lIns="123349" tIns="123349" rIns="123349" bIns="123349" rtlCol="0" anchor="ctr"/>
            <a:lstStyle/>
            <a:p>
              <a:pPr marL="0" lvl="0" indent="0" algn="ctr">
                <a:lnSpc>
                  <a:spcPts val="112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 rot="5400000">
            <a:off x="9296383" y="1330628"/>
            <a:ext cx="8302229" cy="8302196"/>
            <a:chOff x="0" y="0"/>
            <a:chExt cx="6350000" cy="63499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solidFill>
              <a:srgbClr val="4A90E2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0004210" y="2038438"/>
            <a:ext cx="6886575" cy="6886575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666750" y="5003800"/>
            <a:ext cx="8324850" cy="402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560"/>
              </a:lnSpc>
            </a:pPr>
            <a:r>
              <a:rPr lang="en-US" sz="9600" b="1" spc="-240">
                <a:solidFill>
                  <a:srgbClr val="60C2FF"/>
                </a:solidFill>
                <a:latin typeface="Garet Bold"/>
                <a:ea typeface="Garet Bold"/>
                <a:cs typeface="Garet Bold"/>
                <a:sym typeface="Garet Bold"/>
              </a:rPr>
              <a:t>Backend Arquitectura Serverless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05025" y="794385"/>
            <a:ext cx="5448300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0"/>
              </a:lnSpc>
            </a:pPr>
            <a:r>
              <a:rPr lang="en-US" sz="2400" b="1" spc="60">
                <a:solidFill>
                  <a:srgbClr val="D9E3F0"/>
                </a:solidFill>
                <a:latin typeface="Garet Bold"/>
                <a:ea typeface="Garet Bold"/>
                <a:cs typeface="Garet Bold"/>
                <a:sym typeface="Garet Bold"/>
              </a:rPr>
              <a:t>RAPIDGO SERVERLESS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058190">
            <a:off x="-8315153" y="-2517302"/>
            <a:ext cx="13610886" cy="8302196"/>
            <a:chOff x="0" y="0"/>
            <a:chExt cx="1476351" cy="9005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76351" cy="900526"/>
            </a:xfrm>
            <a:custGeom>
              <a:avLst/>
              <a:gdLst/>
              <a:ahLst/>
              <a:cxnLst/>
              <a:rect l="l" t="t" r="r" b="b"/>
              <a:pathLst>
                <a:path w="1476351" h="900526">
                  <a:moveTo>
                    <a:pt x="0" y="0"/>
                  </a:moveTo>
                  <a:lnTo>
                    <a:pt x="1476351" y="0"/>
                  </a:lnTo>
                  <a:lnTo>
                    <a:pt x="1476351" y="900526"/>
                  </a:lnTo>
                  <a:lnTo>
                    <a:pt x="0" y="900526"/>
                  </a:lnTo>
                  <a:close/>
                </a:path>
              </a:pathLst>
            </a:custGeom>
            <a:solidFill>
              <a:srgbClr val="4A90E2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61925"/>
              <a:ext cx="1476351" cy="1062451"/>
            </a:xfrm>
            <a:prstGeom prst="rect">
              <a:avLst/>
            </a:prstGeom>
          </p:spPr>
          <p:txBody>
            <a:bodyPr lIns="123349" tIns="123349" rIns="123349" bIns="123349" rtlCol="0" anchor="ctr"/>
            <a:lstStyle/>
            <a:p>
              <a:pPr marL="0" lvl="0" indent="0" algn="ctr">
                <a:lnSpc>
                  <a:spcPts val="112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666750"/>
            <a:ext cx="7191375" cy="7800975"/>
            <a:chOff x="0" y="0"/>
            <a:chExt cx="9588500" cy="10401300"/>
          </a:xfrm>
        </p:grpSpPr>
        <p:sp>
          <p:nvSpPr>
            <p:cNvPr id="6" name="TextBox 6"/>
            <p:cNvSpPr txBox="1"/>
            <p:nvPr/>
          </p:nvSpPr>
          <p:spPr>
            <a:xfrm>
              <a:off x="0" y="76200"/>
              <a:ext cx="9588500" cy="28718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59"/>
                </a:lnSpc>
              </a:pPr>
              <a:r>
                <a:rPr lang="en-US" sz="7599" b="1" spc="-189">
                  <a:solidFill>
                    <a:srgbClr val="60C2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¿Qué es RapidGo?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733376"/>
              <a:ext cx="9588500" cy="66679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</a:pPr>
              <a:r>
                <a:rPr lang="en-US" sz="2799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RapidGo es una </a:t>
              </a:r>
              <a:r>
                <a:rPr lang="en-US" sz="2799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startup colombiana de domicilios</a:t>
              </a:r>
              <a:r>
                <a:rPr lang="en-US" sz="2799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fundada en 2022, operando en ciudades como Medellín, Manizales y Pereira. Con una aplicación móvil en React Native para Android e iOS, cuenta con 340 repartidores activos y maneja un promedio de 1200 pedidos diarios, alcanzando picos de hasta 4500 en días festivos. Su modelo de negocio incluye una comisión del 18% por cada pedido completado.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39072" y="1318054"/>
            <a:ext cx="8302229" cy="8302196"/>
            <a:chOff x="0" y="0"/>
            <a:chExt cx="11069639" cy="11069594"/>
          </a:xfrm>
        </p:grpSpPr>
        <p:grpSp>
          <p:nvGrpSpPr>
            <p:cNvPr id="9" name="Group 9"/>
            <p:cNvGrpSpPr>
              <a:grpSpLocks noChangeAspect="1"/>
            </p:cNvGrpSpPr>
            <p:nvPr/>
          </p:nvGrpSpPr>
          <p:grpSpPr>
            <a:xfrm>
              <a:off x="0" y="0"/>
              <a:ext cx="11069639" cy="11069594"/>
              <a:chOff x="0" y="0"/>
              <a:chExt cx="6350000" cy="634997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solidFill>
                <a:srgbClr val="4A90E2"/>
              </a:solidFill>
            </p:spPr>
          </p:sp>
        </p:grpSp>
        <p:grpSp>
          <p:nvGrpSpPr>
            <p:cNvPr id="11" name="Group 11"/>
            <p:cNvGrpSpPr/>
            <p:nvPr/>
          </p:nvGrpSpPr>
          <p:grpSpPr>
            <a:xfrm>
              <a:off x="943769" y="943747"/>
              <a:ext cx="9182100" cy="9182100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/>
                </a:stretch>
              </a:blipFill>
            </p:spPr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6886575" cy="4834255"/>
            <a:chOff x="0" y="0"/>
            <a:chExt cx="9182100" cy="6445674"/>
          </a:xfrm>
        </p:grpSpPr>
        <p:sp>
          <p:nvSpPr>
            <p:cNvPr id="3" name="TextBox 3"/>
            <p:cNvSpPr txBox="1"/>
            <p:nvPr/>
          </p:nvSpPr>
          <p:spPr>
            <a:xfrm>
              <a:off x="0" y="76200"/>
              <a:ext cx="9182100" cy="28718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59"/>
                </a:lnSpc>
              </a:pPr>
              <a:r>
                <a:rPr lang="en-US" sz="7599" b="1" spc="-189">
                  <a:solidFill>
                    <a:srgbClr val="60C2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Problemas Actuales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740150"/>
              <a:ext cx="7264400" cy="27055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</a:pPr>
              <a:r>
                <a:rPr lang="en-US" sz="2799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La arquitectura monolítica de RapidGo ocasiona </a:t>
              </a:r>
              <a:r>
                <a:rPr lang="en-US" sz="2799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lentitud y altos costos</a:t>
              </a:r>
              <a:r>
                <a:rPr lang="en-US" sz="2799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operativos que afectan la experiencia del cliente.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-8101220"/>
            <a:ext cx="15250896" cy="17734061"/>
            <a:chOff x="0" y="0"/>
            <a:chExt cx="20334528" cy="23645414"/>
          </a:xfrm>
        </p:grpSpPr>
        <p:grpSp>
          <p:nvGrpSpPr>
            <p:cNvPr id="6" name="Group 6"/>
            <p:cNvGrpSpPr/>
            <p:nvPr/>
          </p:nvGrpSpPr>
          <p:grpSpPr>
            <a:xfrm rot="7458190">
              <a:off x="1574682" y="5080128"/>
              <a:ext cx="18147848" cy="11069594"/>
              <a:chOff x="0" y="0"/>
              <a:chExt cx="1476351" cy="90052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476351" cy="900526"/>
              </a:xfrm>
              <a:custGeom>
                <a:avLst/>
                <a:gdLst/>
                <a:ahLst/>
                <a:cxnLst/>
                <a:rect l="l" t="t" r="r" b="b"/>
                <a:pathLst>
                  <a:path w="1476351" h="900526">
                    <a:moveTo>
                      <a:pt x="0" y="0"/>
                    </a:moveTo>
                    <a:lnTo>
                      <a:pt x="1476351" y="0"/>
                    </a:lnTo>
                    <a:lnTo>
                      <a:pt x="1476351" y="900526"/>
                    </a:lnTo>
                    <a:lnTo>
                      <a:pt x="0" y="900526"/>
                    </a:lnTo>
                    <a:close/>
                  </a:path>
                </a:pathLst>
              </a:custGeom>
              <a:solidFill>
                <a:srgbClr val="4A90E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61925"/>
                <a:ext cx="1476351" cy="1062451"/>
              </a:xfrm>
              <a:prstGeom prst="rect">
                <a:avLst/>
              </a:prstGeom>
            </p:spPr>
            <p:txBody>
              <a:bodyPr lIns="123349" tIns="123349" rIns="123349" bIns="123349" rtlCol="0" anchor="ctr"/>
              <a:lstStyle/>
              <a:p>
                <a:pPr marL="0" lvl="0" indent="0" algn="ctr">
                  <a:lnSpc>
                    <a:spcPts val="112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>
              <a:grpSpLocks noChangeAspect="1"/>
            </p:cNvGrpSpPr>
            <p:nvPr/>
          </p:nvGrpSpPr>
          <p:grpSpPr>
            <a:xfrm rot="5400000">
              <a:off x="-22" y="12575798"/>
              <a:ext cx="11069639" cy="11069594"/>
              <a:chOff x="0" y="0"/>
              <a:chExt cx="6350000" cy="634997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solidFill>
                <a:srgbClr val="4A90E2"/>
              </a:solidFill>
            </p:spPr>
          </p:sp>
        </p:grpSp>
        <p:grpSp>
          <p:nvGrpSpPr>
            <p:cNvPr id="11" name="Group 11"/>
            <p:cNvGrpSpPr/>
            <p:nvPr/>
          </p:nvGrpSpPr>
          <p:grpSpPr>
            <a:xfrm>
              <a:off x="943747" y="13519545"/>
              <a:ext cx="9182100" cy="9182100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/>
                </a:stretch>
              </a:blipFill>
            </p:spPr>
          </p:sp>
        </p:grpSp>
      </p:grp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42950"/>
            <a:ext cx="11506200" cy="1077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59"/>
              </a:lnSpc>
            </a:pPr>
            <a:r>
              <a:rPr lang="en-US" sz="7599" b="1" spc="-189">
                <a:solidFill>
                  <a:srgbClr val="60C2FF"/>
                </a:solidFill>
                <a:latin typeface="Garet Bold"/>
                <a:ea typeface="Garet Bold"/>
                <a:cs typeface="Garet Bold"/>
                <a:sym typeface="Garet Bold"/>
              </a:rPr>
              <a:t>Impacto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4248150"/>
            <a:ext cx="4010025" cy="3672046"/>
            <a:chOff x="0" y="0"/>
            <a:chExt cx="5346700" cy="4896062"/>
          </a:xfrm>
        </p:grpSpPr>
        <p:sp>
          <p:nvSpPr>
            <p:cNvPr id="4" name="TextBox 4"/>
            <p:cNvSpPr txBox="1"/>
            <p:nvPr/>
          </p:nvSpPr>
          <p:spPr>
            <a:xfrm>
              <a:off x="0" y="-57150"/>
              <a:ext cx="5346700" cy="6735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</a:pPr>
              <a:r>
                <a:rPr lang="en-US" sz="2799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Pérdidas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818938"/>
              <a:ext cx="5346700" cy="40771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</a:pPr>
              <a:r>
                <a:rPr lang="en-US" sz="2799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Cada minuto caído representa pérdidas significativas</a:t>
              </a:r>
              <a:r>
                <a:rPr lang="en-US" sz="2799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afectando la rentabilidad y sostenibilidad del negocio.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19850" y="4248150"/>
            <a:ext cx="4010025" cy="2605246"/>
            <a:chOff x="0" y="0"/>
            <a:chExt cx="5346700" cy="3473662"/>
          </a:xfrm>
        </p:grpSpPr>
        <p:sp>
          <p:nvSpPr>
            <p:cNvPr id="7" name="TextBox 7"/>
            <p:cNvSpPr txBox="1"/>
            <p:nvPr/>
          </p:nvSpPr>
          <p:spPr>
            <a:xfrm>
              <a:off x="0" y="-57150"/>
              <a:ext cx="5346700" cy="6735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</a:pPr>
              <a:r>
                <a:rPr lang="en-US" sz="2799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Cancelaciones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818938"/>
              <a:ext cx="5346700" cy="26547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</a:pPr>
              <a:r>
                <a:rPr lang="en-US" sz="2799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Un 12% de los pedidos se cancelan debido a la </a:t>
              </a:r>
              <a:r>
                <a:rPr lang="en-US" sz="2799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lentitud del sistema</a:t>
              </a:r>
              <a:r>
                <a:rPr lang="en-US" sz="2799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frustrando a los usuarios.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172950" y="4248150"/>
            <a:ext cx="4010025" cy="3138646"/>
            <a:chOff x="0" y="0"/>
            <a:chExt cx="5346700" cy="4184862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57150"/>
              <a:ext cx="5346700" cy="6735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</a:pPr>
              <a:r>
                <a:rPr lang="en-US" sz="2799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Crecimiento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818938"/>
              <a:ext cx="5346700" cy="33659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</a:pPr>
              <a:r>
                <a:rPr lang="en-US" sz="2799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La falta de escalabilidad frena el </a:t>
              </a:r>
              <a:r>
                <a:rPr lang="en-US" sz="2799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crecimiento del negocio</a:t>
              </a:r>
              <a:r>
                <a:rPr lang="en-US" sz="2799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impidiendo la expansión a nuevos mercados.</a:t>
              </a:r>
            </a:p>
          </p:txBody>
        </p:sp>
      </p:grpSp>
      <p:sp>
        <p:nvSpPr>
          <p:cNvPr id="12" name="Freeform 12" descr="Impacto económico pérdidas financieras"/>
          <p:cNvSpPr/>
          <p:nvPr/>
        </p:nvSpPr>
        <p:spPr>
          <a:xfrm>
            <a:off x="11906250" y="1428750"/>
            <a:ext cx="5905500" cy="5905500"/>
          </a:xfrm>
          <a:custGeom>
            <a:avLst/>
            <a:gdLst/>
            <a:ahLst/>
            <a:cxnLst/>
            <a:rect l="l" t="t" r="r" b="b"/>
            <a:pathLst>
              <a:path w="5905500" h="5905500">
                <a:moveTo>
                  <a:pt x="0" y="0"/>
                </a:moveTo>
                <a:lnTo>
                  <a:pt x="5905500" y="0"/>
                </a:lnTo>
                <a:lnTo>
                  <a:pt x="5905500" y="5905500"/>
                </a:lnTo>
                <a:lnTo>
                  <a:pt x="0" y="5905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046" r="-25046"/>
            </a:stretch>
          </a:blipFill>
        </p:spPr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42950"/>
            <a:ext cx="14077950" cy="2177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59"/>
              </a:lnSpc>
            </a:pPr>
            <a:r>
              <a:rPr lang="en-US" sz="7599" b="1" spc="-189" dirty="0" err="1">
                <a:solidFill>
                  <a:srgbClr val="60C2FF"/>
                </a:solidFill>
                <a:latin typeface="Garet Bold"/>
                <a:ea typeface="Garet Bold"/>
                <a:cs typeface="Garet Bold"/>
                <a:sym typeface="Garet Bold"/>
              </a:rPr>
              <a:t>Actores</a:t>
            </a:r>
            <a:r>
              <a:rPr lang="en-US" sz="7599" b="1" spc="-189" dirty="0">
                <a:solidFill>
                  <a:srgbClr val="60C2FF"/>
                </a:solidFill>
                <a:latin typeface="Garet Bold"/>
                <a:ea typeface="Garet Bold"/>
                <a:cs typeface="Garet Bold"/>
                <a:sym typeface="Garet Bold"/>
              </a:rPr>
              <a:t> del Sistema </a:t>
            </a:r>
            <a:r>
              <a:rPr lang="en-US" sz="7599" b="1" spc="-189" dirty="0" err="1">
                <a:solidFill>
                  <a:srgbClr val="60C2FF"/>
                </a:solidFill>
                <a:latin typeface="Garet Bold"/>
                <a:ea typeface="Garet Bold"/>
                <a:cs typeface="Garet Bold"/>
                <a:sym typeface="Garet Bold"/>
              </a:rPr>
              <a:t>en</a:t>
            </a:r>
            <a:r>
              <a:rPr lang="en-US" sz="7599" b="1" spc="-189" dirty="0">
                <a:solidFill>
                  <a:srgbClr val="60C2FF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7599" b="1" spc="-189" dirty="0" err="1">
                <a:solidFill>
                  <a:srgbClr val="60C2FF"/>
                </a:solidFill>
                <a:latin typeface="Garet Bold"/>
                <a:ea typeface="Garet Bold"/>
                <a:cs typeface="Garet Bold"/>
                <a:sym typeface="Garet Bold"/>
              </a:rPr>
              <a:t>RapidGo</a:t>
            </a:r>
            <a:endParaRPr lang="en-US" sz="7599" b="1" spc="-189" dirty="0">
              <a:solidFill>
                <a:srgbClr val="60C2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666750" y="5143500"/>
            <a:ext cx="11201400" cy="3148330"/>
            <a:chOff x="0" y="0"/>
            <a:chExt cx="14935200" cy="4197774"/>
          </a:xfrm>
        </p:grpSpPr>
        <p:sp>
          <p:nvSpPr>
            <p:cNvPr id="4" name="TextBox 4"/>
            <p:cNvSpPr txBox="1"/>
            <p:nvPr/>
          </p:nvSpPr>
          <p:spPr>
            <a:xfrm>
              <a:off x="0" y="933450"/>
              <a:ext cx="14935200" cy="32643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4518" lvl="1" indent="-302259" algn="l">
                <a:lnSpc>
                  <a:spcPts val="3919"/>
                </a:lnSpc>
                <a:buFont typeface="Arial"/>
                <a:buChar char="•"/>
              </a:pPr>
              <a:r>
                <a:rPr lang="en-US" sz="2799" dirty="0" err="1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Cliente</a:t>
              </a:r>
              <a:r>
                <a:rPr lang="en-US" sz="2799" dirty="0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799" dirty="0" err="1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realiza</a:t>
              </a:r>
              <a:r>
                <a:rPr lang="en-US" sz="2799" dirty="0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799" dirty="0" err="1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pedidos</a:t>
              </a:r>
              <a:r>
                <a:rPr lang="en-US" sz="2799" dirty="0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799" dirty="0" err="1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desde</a:t>
              </a:r>
              <a:r>
                <a:rPr lang="en-US" sz="2799" dirty="0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la app</a:t>
              </a:r>
            </a:p>
            <a:p>
              <a:pPr marL="604518" lvl="1" indent="-302259" algn="l">
                <a:lnSpc>
                  <a:spcPts val="3919"/>
                </a:lnSpc>
                <a:buFont typeface="Arial"/>
                <a:buChar char="•"/>
              </a:pPr>
              <a:r>
                <a:rPr lang="en-US" sz="2799" dirty="0" err="1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Repartidor</a:t>
              </a:r>
              <a:r>
                <a:rPr lang="en-US" sz="2799" dirty="0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799" dirty="0" err="1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gestiona</a:t>
              </a:r>
              <a:r>
                <a:rPr lang="en-US" sz="2799" dirty="0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799" dirty="0" err="1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entregas</a:t>
              </a:r>
              <a:r>
                <a:rPr lang="en-US" sz="2799" dirty="0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799" dirty="0" err="1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</a:t>
              </a:r>
              <a:r>
                <a:rPr lang="en-US" sz="2799" dirty="0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campo</a:t>
              </a:r>
            </a:p>
            <a:p>
              <a:pPr marL="604518" lvl="1" indent="-302259" algn="l">
                <a:lnSpc>
                  <a:spcPts val="3919"/>
                </a:lnSpc>
                <a:buFont typeface="Arial"/>
                <a:buChar char="•"/>
              </a:pPr>
              <a:r>
                <a:rPr lang="en-US" sz="2799" dirty="0" err="1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Administrador</a:t>
              </a:r>
              <a:r>
                <a:rPr lang="en-US" sz="2799" dirty="0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799" dirty="0" err="1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supervisa</a:t>
              </a:r>
              <a:r>
                <a:rPr lang="en-US" sz="2799" dirty="0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la </a:t>
              </a:r>
              <a:r>
                <a:rPr lang="en-US" sz="2799" dirty="0" err="1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operación</a:t>
              </a:r>
              <a:r>
                <a:rPr lang="en-US" sz="2799" dirty="0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general</a:t>
              </a:r>
            </a:p>
            <a:p>
              <a:pPr marL="604518" lvl="1" indent="-302259" algn="l">
                <a:lnSpc>
                  <a:spcPts val="3919"/>
                </a:lnSpc>
                <a:buFont typeface="Arial"/>
                <a:buChar char="•"/>
              </a:pPr>
              <a:r>
                <a:rPr lang="en-US" sz="2799" dirty="0" err="1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Sistemas</a:t>
              </a:r>
              <a:r>
                <a:rPr lang="en-US" sz="2799" dirty="0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799" dirty="0" err="1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externos</a:t>
              </a:r>
              <a:r>
                <a:rPr lang="en-US" sz="2799" dirty="0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799" dirty="0" err="1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integran</a:t>
              </a:r>
              <a:r>
                <a:rPr lang="en-US" sz="2799" dirty="0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799" dirty="0" err="1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pasarelas</a:t>
              </a:r>
              <a:r>
                <a:rPr lang="en-US" sz="2799" dirty="0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de </a:t>
              </a:r>
              <a:r>
                <a:rPr lang="en-US" sz="2799" dirty="0" err="1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pago</a:t>
              </a:r>
              <a:endParaRPr lang="en-US" sz="2799" dirty="0">
                <a:solidFill>
                  <a:srgbClr val="D9E3F0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  <a:p>
              <a:pPr marL="604518" lvl="1" indent="-302259" algn="l">
                <a:lnSpc>
                  <a:spcPts val="3919"/>
                </a:lnSpc>
                <a:buFont typeface="Arial"/>
                <a:buChar char="•"/>
              </a:pPr>
              <a:r>
                <a:rPr lang="en-US" sz="2799" dirty="0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Firebase </a:t>
              </a:r>
              <a:r>
                <a:rPr lang="en-US" sz="2799" dirty="0" err="1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gestiona</a:t>
              </a:r>
              <a:r>
                <a:rPr lang="en-US" sz="2799" dirty="0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799" dirty="0" err="1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notificaciones</a:t>
              </a:r>
              <a:r>
                <a:rPr lang="en-US" sz="2799" dirty="0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y </a:t>
              </a:r>
              <a:r>
                <a:rPr lang="en-US" sz="2799" dirty="0" err="1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datos</a:t>
              </a:r>
              <a:endParaRPr lang="en-US" sz="2799" dirty="0">
                <a:solidFill>
                  <a:srgbClr val="D9E3F0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4935200" cy="6735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</a:pPr>
              <a:r>
                <a:rPr lang="en-US" sz="2799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Principales roles en la aplicación</a:t>
              </a:r>
            </a:p>
          </p:txBody>
        </p:sp>
      </p:grpSp>
      <p:sp>
        <p:nvSpPr>
          <p:cNvPr id="6" name="Freeform 6" descr="Usuarios usando aplicación móvil"/>
          <p:cNvSpPr/>
          <p:nvPr/>
        </p:nvSpPr>
        <p:spPr>
          <a:xfrm>
            <a:off x="11430000" y="1905000"/>
            <a:ext cx="6191250" cy="6191250"/>
          </a:xfrm>
          <a:custGeom>
            <a:avLst/>
            <a:gdLst/>
            <a:ahLst/>
            <a:cxnLst/>
            <a:rect l="l" t="t" r="r" b="b"/>
            <a:pathLst>
              <a:path w="6191250" h="6191250">
                <a:moveTo>
                  <a:pt x="0" y="0"/>
                </a:moveTo>
                <a:lnTo>
                  <a:pt x="6191250" y="0"/>
                </a:lnTo>
                <a:lnTo>
                  <a:pt x="6191250" y="6191250"/>
                </a:lnTo>
                <a:lnTo>
                  <a:pt x="0" y="6191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906" r="-24906"/>
            </a:stretch>
          </a:blipFill>
        </p:spPr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2239" y="1125589"/>
            <a:ext cx="10977414" cy="88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828800">
              <a:lnSpc>
                <a:spcPct val="104000"/>
              </a:lnSpc>
            </a:pPr>
            <a:r>
              <a:rPr lang="en-US" sz="5000" dirty="0">
                <a:solidFill>
                  <a:srgbClr val="60C2FF"/>
                </a:solidFill>
                <a:latin typeface="Garet Bold" panose="020B0604020202020204" charset="0"/>
                <a:ea typeface="Gelasio" pitchFamily="34" charset="-122"/>
                <a:cs typeface="Gelasio" pitchFamily="34" charset="-120"/>
              </a:rPr>
              <a:t>Diagrama de Contenedores (C2)</a:t>
            </a:r>
            <a:endParaRPr lang="en-US" sz="5000" dirty="0">
              <a:solidFill>
                <a:srgbClr val="60C2FF"/>
              </a:solidFill>
              <a:latin typeface="Garet Bold" panose="020B060402020202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92239" y="2720280"/>
            <a:ext cx="7805886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828800">
              <a:lnSpc>
                <a:spcPct val="104000"/>
              </a:lnSpc>
            </a:pPr>
            <a:r>
              <a:rPr lang="en-US" sz="2800" dirty="0">
                <a:solidFill>
                  <a:srgbClr val="60C2FF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Flujo de datos de la arquitectura serverless propuesta para RapidGo:</a:t>
            </a:r>
          </a:p>
        </p:txBody>
      </p:sp>
      <p:sp>
        <p:nvSpPr>
          <p:cNvPr id="4" name="Text 2"/>
          <p:cNvSpPr/>
          <p:nvPr/>
        </p:nvSpPr>
        <p:spPr>
          <a:xfrm>
            <a:off x="992239" y="4067027"/>
            <a:ext cx="7805886" cy="4322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685800" indent="-685800" defTabSz="1828800">
              <a:lnSpc>
                <a:spcPct val="133000"/>
              </a:lnSpc>
              <a:buSzPct val="100000"/>
              <a:buFontTx/>
              <a:buChar char="•"/>
            </a:pPr>
            <a:r>
              <a:rPr lang="en-US" sz="2800" dirty="0">
                <a:solidFill>
                  <a:srgbClr val="C9C2C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App Móvil</a:t>
            </a:r>
            <a:endParaRPr lang="en-US" sz="2800" dirty="0">
              <a:solidFill>
                <a:prstClr val="black"/>
              </a:solidFill>
              <a:latin typeface="Helvetica World" panose="020B0604020202020204" charset="-128"/>
              <a:ea typeface="Helvetica World" panose="020B0604020202020204" charset="-128"/>
              <a:cs typeface="Helvetica World" panose="020B0604020202020204" charset="-128"/>
            </a:endParaRPr>
          </a:p>
          <a:p>
            <a:pPr marL="685800" indent="-685800" defTabSz="1828800">
              <a:lnSpc>
                <a:spcPct val="133000"/>
              </a:lnSpc>
              <a:buSzPct val="100000"/>
              <a:buFontTx/>
              <a:buChar char="•"/>
            </a:pPr>
            <a:r>
              <a:rPr lang="en-US" sz="2800" dirty="0">
                <a:solidFill>
                  <a:srgbClr val="C9C2C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React Native (Android/iOS)</a:t>
            </a:r>
            <a:endParaRPr lang="en-US" sz="2800" dirty="0">
              <a:solidFill>
                <a:prstClr val="black"/>
              </a:solidFill>
              <a:latin typeface="Helvetica World" panose="020B0604020202020204" charset="-128"/>
              <a:ea typeface="Helvetica World" panose="020B0604020202020204" charset="-128"/>
              <a:cs typeface="Helvetica World" panose="020B0604020202020204" charset="-128"/>
            </a:endParaRPr>
          </a:p>
          <a:p>
            <a:pPr marL="685800" indent="-685800" defTabSz="1828800">
              <a:lnSpc>
                <a:spcPct val="133000"/>
              </a:lnSpc>
              <a:buSzPct val="100000"/>
              <a:buFontTx/>
              <a:buChar char="•"/>
            </a:pPr>
            <a:r>
              <a:rPr lang="en-US" sz="2800" dirty="0">
                <a:solidFill>
                  <a:srgbClr val="C9C2C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API Management</a:t>
            </a:r>
            <a:endParaRPr lang="en-US" sz="2800" dirty="0">
              <a:solidFill>
                <a:prstClr val="black"/>
              </a:solidFill>
              <a:latin typeface="Helvetica World" panose="020B0604020202020204" charset="-128"/>
              <a:ea typeface="Helvetica World" panose="020B0604020202020204" charset="-128"/>
              <a:cs typeface="Helvetica World" panose="020B0604020202020204" charset="-128"/>
            </a:endParaRPr>
          </a:p>
          <a:p>
            <a:pPr marL="685800" indent="-685800" defTabSz="1828800">
              <a:lnSpc>
                <a:spcPct val="133000"/>
              </a:lnSpc>
              <a:buSzPct val="100000"/>
              <a:buFontTx/>
              <a:buChar char="•"/>
            </a:pPr>
            <a:r>
              <a:rPr lang="en-US" sz="2800" dirty="0">
                <a:solidFill>
                  <a:srgbClr val="C9C2C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Gateway centralizado</a:t>
            </a:r>
            <a:endParaRPr lang="en-US" sz="2800" dirty="0">
              <a:solidFill>
                <a:prstClr val="black"/>
              </a:solidFill>
              <a:latin typeface="Helvetica World" panose="020B0604020202020204" charset="-128"/>
              <a:ea typeface="Helvetica World" panose="020B0604020202020204" charset="-128"/>
              <a:cs typeface="Helvetica World" panose="020B0604020202020204" charset="-128"/>
            </a:endParaRPr>
          </a:p>
          <a:p>
            <a:pPr marL="685800" indent="-685800" defTabSz="1828800">
              <a:lnSpc>
                <a:spcPct val="133000"/>
              </a:lnSpc>
              <a:buSzPct val="100000"/>
              <a:buFontTx/>
              <a:buChar char="•"/>
            </a:pPr>
            <a:r>
              <a:rPr lang="en-US" sz="2800" dirty="0">
                <a:solidFill>
                  <a:srgbClr val="C9C2C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Azure Functions</a:t>
            </a:r>
            <a:endParaRPr lang="en-US" sz="2800" dirty="0">
              <a:solidFill>
                <a:prstClr val="black"/>
              </a:solidFill>
              <a:latin typeface="Helvetica World" panose="020B0604020202020204" charset="-128"/>
              <a:ea typeface="Helvetica World" panose="020B0604020202020204" charset="-128"/>
              <a:cs typeface="Helvetica World" panose="020B0604020202020204" charset="-128"/>
            </a:endParaRPr>
          </a:p>
          <a:p>
            <a:pPr marL="685800" indent="-685800" defTabSz="1828800">
              <a:lnSpc>
                <a:spcPct val="133000"/>
              </a:lnSpc>
              <a:buSzPct val="100000"/>
              <a:buFontTx/>
              <a:buChar char="•"/>
            </a:pPr>
            <a:r>
              <a:rPr lang="en-US" sz="2800" dirty="0">
                <a:solidFill>
                  <a:srgbClr val="C9C2C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4 funciones serverless</a:t>
            </a:r>
            <a:endParaRPr lang="en-US" sz="2800" dirty="0">
              <a:solidFill>
                <a:prstClr val="black"/>
              </a:solidFill>
              <a:latin typeface="Helvetica World" panose="020B0604020202020204" charset="-128"/>
              <a:ea typeface="Helvetica World" panose="020B0604020202020204" charset="-128"/>
              <a:cs typeface="Helvetica World" panose="020B0604020202020204" charset="-128"/>
            </a:endParaRPr>
          </a:p>
          <a:p>
            <a:pPr marL="685800" indent="-685800" defTabSz="1828800">
              <a:lnSpc>
                <a:spcPct val="133000"/>
              </a:lnSpc>
              <a:buSzPct val="100000"/>
              <a:buFontTx/>
              <a:buChar char="•"/>
            </a:pPr>
            <a:r>
              <a:rPr lang="en-US" sz="2800" dirty="0">
                <a:solidFill>
                  <a:srgbClr val="C9C2C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Servicios Azure</a:t>
            </a:r>
            <a:endParaRPr lang="en-US" sz="2800" dirty="0">
              <a:solidFill>
                <a:prstClr val="black"/>
              </a:solidFill>
              <a:latin typeface="Helvetica World" panose="020B0604020202020204" charset="-128"/>
              <a:ea typeface="Helvetica World" panose="020B0604020202020204" charset="-128"/>
              <a:cs typeface="Helvetica World" panose="020B0604020202020204" charset="-128"/>
            </a:endParaRPr>
          </a:p>
          <a:p>
            <a:pPr marL="685800" indent="-685800" defTabSz="1828800">
              <a:lnSpc>
                <a:spcPct val="133000"/>
              </a:lnSpc>
              <a:buSzPct val="100000"/>
              <a:buFontTx/>
              <a:buChar char="•"/>
            </a:pPr>
            <a:r>
              <a:rPr lang="en-US" sz="2800" dirty="0">
                <a:solidFill>
                  <a:srgbClr val="C9C2C0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Cosmos DB · Blob Storage · Notification Hubs</a:t>
            </a:r>
            <a:endParaRPr lang="en-US" sz="2800" dirty="0">
              <a:solidFill>
                <a:prstClr val="black"/>
              </a:solidFill>
              <a:latin typeface="Helvetica World" panose="020B0604020202020204" charset="-128"/>
              <a:ea typeface="Helvetica World" panose="020B0604020202020204" charset="-128"/>
              <a:cs typeface="Helvetica World" panose="020B0604020202020204" charset="-128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9403" y="2755702"/>
            <a:ext cx="7805886" cy="6086624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B6C4D48A-57BC-28FB-D2C9-52C028AEF190}"/>
              </a:ext>
            </a:extLst>
          </p:cNvPr>
          <p:cNvSpPr/>
          <p:nvPr/>
        </p:nvSpPr>
        <p:spPr>
          <a:xfrm>
            <a:off x="15172218" y="9613679"/>
            <a:ext cx="3083125" cy="609600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1A1A1A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9221" y="741016"/>
            <a:ext cx="5089774" cy="52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828800">
              <a:lnSpc>
                <a:spcPct val="104000"/>
              </a:lnSpc>
            </a:pPr>
            <a:r>
              <a:rPr lang="en-US" sz="4800" dirty="0">
                <a:solidFill>
                  <a:srgbClr val="60C2FF"/>
                </a:solidFill>
                <a:latin typeface="Garet Bold" panose="020B0604020202020204" charset="0"/>
                <a:ea typeface="Gelasio" pitchFamily="34" charset="-122"/>
                <a:cs typeface="Gelasio" pitchFamily="34" charset="-120"/>
              </a:rPr>
              <a:t>Diagrama (C3)</a:t>
            </a:r>
            <a:endParaRPr lang="en-US" sz="4800" dirty="0">
              <a:solidFill>
                <a:srgbClr val="60C2FF"/>
              </a:solidFill>
              <a:latin typeface="Garet Bold" panose="020B060402020202020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220" y="1459706"/>
            <a:ext cx="10718156" cy="4783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9220" y="6390383"/>
            <a:ext cx="13283208" cy="312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828800">
              <a:lnSpc>
                <a:spcPct val="104000"/>
              </a:lnSpc>
            </a:pPr>
            <a:r>
              <a:rPr lang="en-US" sz="1900" dirty="0">
                <a:solidFill>
                  <a:srgbClr val="60C2FF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La Azure Functions App contiene 4 funciones serverless que gestionan el ciclo completo de pedidos en RapidGo:</a:t>
            </a:r>
            <a:endParaRPr lang="en-US" sz="1900" dirty="0">
              <a:solidFill>
                <a:srgbClr val="60C2FF"/>
              </a:solidFill>
              <a:latin typeface="Calibri" panose="020F0502020204030204"/>
            </a:endParaRPr>
          </a:p>
        </p:txBody>
      </p:sp>
      <p:sp>
        <p:nvSpPr>
          <p:cNvPr id="5" name="Shape 2"/>
          <p:cNvSpPr/>
          <p:nvPr/>
        </p:nvSpPr>
        <p:spPr>
          <a:xfrm>
            <a:off x="899221" y="6850856"/>
            <a:ext cx="8195518" cy="500956"/>
          </a:xfrm>
          <a:prstGeom prst="roundRect">
            <a:avLst>
              <a:gd name="adj" fmla="val 480100"/>
            </a:avLst>
          </a:prstGeom>
          <a:solidFill>
            <a:srgbClr val="373433"/>
          </a:solidFill>
          <a:ln/>
        </p:spPr>
      </p:sp>
      <p:sp>
        <p:nvSpPr>
          <p:cNvPr id="6" name="Text 3"/>
          <p:cNvSpPr/>
          <p:nvPr/>
        </p:nvSpPr>
        <p:spPr>
          <a:xfrm>
            <a:off x="4871741" y="6944767"/>
            <a:ext cx="250478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defTabSz="1828800"/>
            <a:r>
              <a:rPr lang="en-US" sz="19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1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66204" y="7450188"/>
            <a:ext cx="2087612" cy="260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828800">
              <a:lnSpc>
                <a:spcPct val="104000"/>
              </a:lnSpc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registrarPedido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66204" y="7770018"/>
            <a:ext cx="7861548" cy="212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828800">
              <a:lnSpc>
                <a:spcPct val="106000"/>
              </a:lnSpc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Crea y valida nuevos pedidos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9193114" y="6850856"/>
            <a:ext cx="8195668" cy="500956"/>
          </a:xfrm>
          <a:prstGeom prst="roundRect">
            <a:avLst>
              <a:gd name="adj" fmla="val 480100"/>
            </a:avLst>
          </a:prstGeom>
          <a:solidFill>
            <a:srgbClr val="373433"/>
          </a:solidFill>
          <a:ln/>
        </p:spPr>
      </p:sp>
      <p:sp>
        <p:nvSpPr>
          <p:cNvPr id="10" name="Text 7"/>
          <p:cNvSpPr/>
          <p:nvPr/>
        </p:nvSpPr>
        <p:spPr>
          <a:xfrm>
            <a:off x="13165635" y="6944767"/>
            <a:ext cx="250478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defTabSz="1828800"/>
            <a:r>
              <a:rPr lang="en-US" sz="19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1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360098" y="7450188"/>
            <a:ext cx="2087612" cy="260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828800">
              <a:lnSpc>
                <a:spcPct val="104000"/>
              </a:lnSpc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consultarHistorial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360098" y="7770018"/>
            <a:ext cx="7861696" cy="212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828800">
              <a:lnSpc>
                <a:spcPct val="106000"/>
              </a:lnSpc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Recupera historial de pedidos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99221" y="8247608"/>
            <a:ext cx="8195518" cy="500956"/>
          </a:xfrm>
          <a:prstGeom prst="roundRect">
            <a:avLst>
              <a:gd name="adj" fmla="val 480100"/>
            </a:avLst>
          </a:prstGeom>
          <a:solidFill>
            <a:srgbClr val="373433"/>
          </a:solidFill>
          <a:ln/>
        </p:spPr>
      </p:sp>
      <p:sp>
        <p:nvSpPr>
          <p:cNvPr id="14" name="Text 11"/>
          <p:cNvSpPr/>
          <p:nvPr/>
        </p:nvSpPr>
        <p:spPr>
          <a:xfrm>
            <a:off x="4871741" y="8341519"/>
            <a:ext cx="250478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defTabSz="1828800"/>
            <a:r>
              <a:rPr lang="en-US" sz="19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1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66204" y="8846940"/>
            <a:ext cx="2087612" cy="260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828800">
              <a:lnSpc>
                <a:spcPct val="104000"/>
              </a:lnSpc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actualizarEstado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066204" y="9166770"/>
            <a:ext cx="7861548" cy="212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828800">
              <a:lnSpc>
                <a:spcPct val="106000"/>
              </a:lnSpc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Actualiza estado de entrega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9193114" y="8247608"/>
            <a:ext cx="8195668" cy="500956"/>
          </a:xfrm>
          <a:prstGeom prst="roundRect">
            <a:avLst>
              <a:gd name="adj" fmla="val 480100"/>
            </a:avLst>
          </a:prstGeom>
          <a:solidFill>
            <a:srgbClr val="373433"/>
          </a:solidFill>
          <a:ln/>
        </p:spPr>
      </p:sp>
      <p:sp>
        <p:nvSpPr>
          <p:cNvPr id="18" name="Text 15"/>
          <p:cNvSpPr/>
          <p:nvPr/>
        </p:nvSpPr>
        <p:spPr>
          <a:xfrm>
            <a:off x="13165635" y="8341519"/>
            <a:ext cx="250478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defTabSz="1828800"/>
            <a:r>
              <a:rPr lang="en-US" sz="19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</a:t>
            </a:r>
            <a:endParaRPr lang="en-US" sz="1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360098" y="8846940"/>
            <a:ext cx="2087612" cy="260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828800">
              <a:lnSpc>
                <a:spcPct val="104000"/>
              </a:lnSpc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notificarCliente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9360098" y="9166770"/>
            <a:ext cx="7861696" cy="212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828800">
              <a:lnSpc>
                <a:spcPct val="106000"/>
              </a:lnSpc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Envía notificaciones push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A7DD65D-5FF4-A6E3-D0B2-189D869EF42A}"/>
              </a:ext>
            </a:extLst>
          </p:cNvPr>
          <p:cNvSpPr/>
          <p:nvPr/>
        </p:nvSpPr>
        <p:spPr>
          <a:xfrm>
            <a:off x="15183104" y="9617146"/>
            <a:ext cx="3083125" cy="609600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1A1A1A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1244" y="2805629"/>
            <a:ext cx="6020201" cy="5259936"/>
          </a:xfrm>
          <a:custGeom>
            <a:avLst/>
            <a:gdLst/>
            <a:ahLst/>
            <a:cxnLst/>
            <a:rect l="l" t="t" r="r" b="b"/>
            <a:pathLst>
              <a:path w="6020201" h="5259936">
                <a:moveTo>
                  <a:pt x="0" y="0"/>
                </a:moveTo>
                <a:lnTo>
                  <a:pt x="6020201" y="0"/>
                </a:lnTo>
                <a:lnTo>
                  <a:pt x="6020201" y="5259936"/>
                </a:lnTo>
                <a:lnTo>
                  <a:pt x="0" y="52599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7556" t="-15817" r="-13146" b="-1581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306169" y="771216"/>
            <a:ext cx="14077950" cy="1077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59"/>
              </a:lnSpc>
            </a:pPr>
            <a:r>
              <a:rPr lang="en-US" sz="7599" b="1" spc="-189">
                <a:solidFill>
                  <a:srgbClr val="60C2FF"/>
                </a:solidFill>
                <a:latin typeface="Garet Bold"/>
                <a:ea typeface="Garet Bold"/>
                <a:cs typeface="Garet Bold"/>
                <a:sym typeface="Garet Bold"/>
              </a:rPr>
              <a:t>ADR-01 - Azure Functions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496241" y="2805629"/>
            <a:ext cx="9553575" cy="5907686"/>
            <a:chOff x="0" y="0"/>
            <a:chExt cx="12738100" cy="7876915"/>
          </a:xfrm>
        </p:grpSpPr>
        <p:sp>
          <p:nvSpPr>
            <p:cNvPr id="5" name="TextBox 5"/>
            <p:cNvSpPr txBox="1"/>
            <p:nvPr/>
          </p:nvSpPr>
          <p:spPr>
            <a:xfrm>
              <a:off x="0" y="834739"/>
              <a:ext cx="12738100" cy="70421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6576" lvl="1" indent="-268288" algn="l">
                <a:lnSpc>
                  <a:spcPts val="3479"/>
                </a:lnSpc>
                <a:buFont typeface="Arial"/>
                <a:buChar char="•"/>
              </a:pPr>
              <a:r>
                <a:rPr lang="en-US" sz="2485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Decisión: Azure Functions como motor de procesamiento de pedidos</a:t>
              </a:r>
            </a:p>
            <a:p>
              <a:pPr algn="l">
                <a:lnSpc>
                  <a:spcPts val="3479"/>
                </a:lnSpc>
              </a:pPr>
              <a:endParaRPr lang="en-US" sz="2485">
                <a:solidFill>
                  <a:srgbClr val="D9E3F0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  <a:p>
              <a:pPr marL="536576" lvl="1" indent="-268288" algn="l">
                <a:lnSpc>
                  <a:spcPts val="3479"/>
                </a:lnSpc>
                <a:buFont typeface="Arial"/>
                <a:buChar char="•"/>
              </a:pPr>
              <a:r>
                <a:rPr lang="en-US" sz="2485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Alternativas descartadas:</a:t>
              </a:r>
            </a:p>
            <a:p>
              <a:pPr marL="536576" lvl="1" indent="-268288" algn="l">
                <a:lnSpc>
                  <a:spcPts val="3479"/>
                </a:lnSpc>
                <a:buFont typeface="Arial"/>
                <a:buChar char="•"/>
              </a:pPr>
              <a:r>
                <a:rPr lang="en-US" sz="2485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App Service → costos fijos sin importar el tráfico</a:t>
              </a:r>
            </a:p>
            <a:p>
              <a:pPr marL="536576" lvl="1" indent="-268288" algn="l">
                <a:lnSpc>
                  <a:spcPts val="3479"/>
                </a:lnSpc>
                <a:buFont typeface="Arial"/>
                <a:buChar char="•"/>
              </a:pPr>
              <a:r>
                <a:rPr lang="en-US" sz="2485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AKS → complejidad innecesaria para el tamaño de RapidGo </a:t>
              </a:r>
            </a:p>
            <a:p>
              <a:pPr algn="l">
                <a:lnSpc>
                  <a:spcPts val="3479"/>
                </a:lnSpc>
              </a:pPr>
              <a:endParaRPr lang="en-US" sz="2485">
                <a:solidFill>
                  <a:srgbClr val="D9E3F0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  <a:p>
              <a:pPr marL="536576" lvl="1" indent="-268288" algn="l">
                <a:lnSpc>
                  <a:spcPts val="3479"/>
                </a:lnSpc>
                <a:buFont typeface="Arial"/>
                <a:buChar char="•"/>
              </a:pPr>
              <a:r>
                <a:rPr lang="en-US" sz="2485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Resultado:Escala de 1.200 a 4.500 pedidos sin intervención manual</a:t>
              </a:r>
            </a:p>
            <a:p>
              <a:pPr algn="l">
                <a:lnSpc>
                  <a:spcPts val="3479"/>
                </a:lnSpc>
              </a:pPr>
              <a:endParaRPr lang="en-US" sz="2485">
                <a:solidFill>
                  <a:srgbClr val="D9E3F0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  <a:p>
              <a:pPr algn="l">
                <a:lnSpc>
                  <a:spcPts val="3479"/>
                </a:lnSpc>
              </a:pPr>
              <a:endParaRPr lang="en-US" sz="2485">
                <a:solidFill>
                  <a:srgbClr val="D9E3F0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  <a:p>
              <a:pPr algn="l">
                <a:lnSpc>
                  <a:spcPts val="3479"/>
                </a:lnSpc>
              </a:pPr>
              <a:endParaRPr lang="en-US" sz="2485">
                <a:solidFill>
                  <a:srgbClr val="D9E3F0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738100" cy="5787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79"/>
                </a:lnSpc>
              </a:pPr>
              <a:r>
                <a:rPr lang="en-US" sz="2485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ADR-01: Lógica Serverless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761834" y="2672797"/>
            <a:ext cx="6253769" cy="6271435"/>
          </a:xfrm>
          <a:custGeom>
            <a:avLst/>
            <a:gdLst/>
            <a:ahLst/>
            <a:cxnLst/>
            <a:rect l="l" t="t" r="r" b="b"/>
            <a:pathLst>
              <a:path w="6253769" h="6271435">
                <a:moveTo>
                  <a:pt x="0" y="0"/>
                </a:moveTo>
                <a:lnTo>
                  <a:pt x="6253769" y="0"/>
                </a:lnTo>
                <a:lnTo>
                  <a:pt x="6253769" y="6271435"/>
                </a:lnTo>
                <a:lnTo>
                  <a:pt x="0" y="62714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306169" y="771216"/>
            <a:ext cx="14077950" cy="1077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59"/>
              </a:lnSpc>
            </a:pPr>
            <a:r>
              <a:rPr lang="en-US" sz="7599" b="1" spc="-189">
                <a:solidFill>
                  <a:srgbClr val="60C2FF"/>
                </a:solidFill>
                <a:latin typeface="Garet Bold"/>
                <a:ea typeface="Garet Bold"/>
                <a:cs typeface="Garet Bold"/>
                <a:sym typeface="Garet Bold"/>
              </a:rPr>
              <a:t>ADR-02 - Cosmos DB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38337" y="3003490"/>
            <a:ext cx="9553575" cy="5940743"/>
            <a:chOff x="0" y="0"/>
            <a:chExt cx="12738100" cy="7920990"/>
          </a:xfrm>
        </p:grpSpPr>
        <p:sp>
          <p:nvSpPr>
            <p:cNvPr id="5" name="TextBox 5"/>
            <p:cNvSpPr txBox="1"/>
            <p:nvPr/>
          </p:nvSpPr>
          <p:spPr>
            <a:xfrm>
              <a:off x="0" y="834739"/>
              <a:ext cx="12738100" cy="70862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6576" lvl="1" indent="-268288" algn="l">
                <a:lnSpc>
                  <a:spcPts val="3479"/>
                </a:lnSpc>
                <a:buFont typeface="Arial"/>
                <a:buChar char="•"/>
              </a:pPr>
              <a:r>
                <a:rPr lang="en-US" sz="2485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Decisión: </a:t>
              </a:r>
            </a:p>
            <a:p>
              <a:pPr marL="536576" lvl="1" indent="-268288" algn="l">
                <a:lnSpc>
                  <a:spcPts val="3479"/>
                </a:lnSpc>
                <a:buFont typeface="Arial"/>
                <a:buChar char="•"/>
              </a:pPr>
              <a:r>
                <a:rPr lang="en-US" sz="2485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Cosmos DB para persistencia de pedidos y usuarios</a:t>
              </a:r>
            </a:p>
            <a:p>
              <a:pPr algn="l">
                <a:lnSpc>
                  <a:spcPts val="3479"/>
                </a:lnSpc>
              </a:pPr>
              <a:endParaRPr lang="en-US" sz="2485">
                <a:solidFill>
                  <a:srgbClr val="D9E3F0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  <a:p>
              <a:pPr marL="536576" lvl="1" indent="-268288" algn="l">
                <a:lnSpc>
                  <a:spcPts val="3479"/>
                </a:lnSpc>
                <a:buFont typeface="Arial"/>
                <a:buChar char="•"/>
              </a:pPr>
              <a:r>
                <a:rPr lang="en-US" sz="2485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Alternativas descartadas:</a:t>
              </a:r>
            </a:p>
            <a:p>
              <a:pPr marL="536576" lvl="1" indent="-268288" algn="l">
                <a:lnSpc>
                  <a:spcPts val="3479"/>
                </a:lnSpc>
                <a:buFont typeface="Arial"/>
                <a:buChar char="•"/>
              </a:pPr>
              <a:r>
                <a:rPr lang="en-US" sz="2485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Azure SQL → esquema rígido, no tolera variación entre ciudades</a:t>
              </a:r>
            </a:p>
            <a:p>
              <a:pPr marL="536576" lvl="1" indent="-268288" algn="l">
                <a:lnSpc>
                  <a:spcPts val="3479"/>
                </a:lnSpc>
                <a:buFont typeface="Arial"/>
                <a:buChar char="•"/>
              </a:pPr>
              <a:r>
                <a:rPr lang="en-US" sz="2485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MongoDB Atlas → integración inferior con el ecosistema Azure</a:t>
              </a:r>
            </a:p>
            <a:p>
              <a:pPr algn="l">
                <a:lnSpc>
                  <a:spcPts val="3479"/>
                </a:lnSpc>
              </a:pPr>
              <a:endParaRPr lang="en-US" sz="2485">
                <a:solidFill>
                  <a:srgbClr val="D9E3F0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  <a:p>
              <a:pPr marL="536576" lvl="1" indent="-268288" algn="l">
                <a:lnSpc>
                  <a:spcPts val="3479"/>
                </a:lnSpc>
                <a:buFont typeface="Arial"/>
                <a:buChar char="•"/>
              </a:pPr>
              <a:r>
                <a:rPr lang="en-US" sz="2485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Resultado</a:t>
              </a:r>
              <a:r>
                <a:rPr lang="en-US" sz="2485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:</a:t>
              </a:r>
            </a:p>
            <a:p>
              <a:pPr marL="536576" lvl="1" indent="-268288" algn="l">
                <a:lnSpc>
                  <a:spcPts val="3479"/>
                </a:lnSpc>
                <a:buFont typeface="Arial"/>
                <a:buChar char="•"/>
              </a:pPr>
              <a:r>
                <a:rPr lang="en-US" sz="2485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Latencia &lt;10ms garantizada con replicación global</a:t>
              </a:r>
            </a:p>
            <a:p>
              <a:pPr algn="l">
                <a:lnSpc>
                  <a:spcPts val="3479"/>
                </a:lnSpc>
              </a:pPr>
              <a:endParaRPr lang="en-US" sz="2485">
                <a:solidFill>
                  <a:srgbClr val="D9E3F0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  <a:p>
              <a:pPr algn="l">
                <a:lnSpc>
                  <a:spcPts val="3479"/>
                </a:lnSpc>
              </a:pPr>
              <a:endParaRPr lang="en-US" sz="2485">
                <a:solidFill>
                  <a:srgbClr val="D9E3F0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  <a:p>
              <a:pPr algn="l">
                <a:lnSpc>
                  <a:spcPts val="3479"/>
                </a:lnSpc>
              </a:pPr>
              <a:endParaRPr lang="en-US" sz="2485">
                <a:solidFill>
                  <a:srgbClr val="D9E3F0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738100" cy="5787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79"/>
                </a:lnSpc>
              </a:pPr>
              <a:r>
                <a:rPr lang="en-US" sz="2485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ADR-02: Base de Datos NoSQL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1793" y="3031756"/>
            <a:ext cx="6350331" cy="5874057"/>
          </a:xfrm>
          <a:custGeom>
            <a:avLst/>
            <a:gdLst/>
            <a:ahLst/>
            <a:cxnLst/>
            <a:rect l="l" t="t" r="r" b="b"/>
            <a:pathLst>
              <a:path w="6350331" h="5874057">
                <a:moveTo>
                  <a:pt x="0" y="0"/>
                </a:moveTo>
                <a:lnTo>
                  <a:pt x="6350331" y="0"/>
                </a:lnTo>
                <a:lnTo>
                  <a:pt x="6350331" y="5874056"/>
                </a:lnTo>
                <a:lnTo>
                  <a:pt x="0" y="58740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306169" y="771216"/>
            <a:ext cx="14077950" cy="1077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59"/>
              </a:lnSpc>
            </a:pPr>
            <a:r>
              <a:rPr lang="en-US" sz="7599" b="1" spc="-189">
                <a:solidFill>
                  <a:srgbClr val="60C2FF"/>
                </a:solidFill>
                <a:latin typeface="Garet Bold"/>
                <a:ea typeface="Garet Bold"/>
                <a:cs typeface="Garet Bold"/>
                <a:sym typeface="Garet Bold"/>
              </a:rPr>
              <a:t>ADR-03 - API Management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7705725" y="3031756"/>
            <a:ext cx="9553575" cy="5940743"/>
            <a:chOff x="0" y="0"/>
            <a:chExt cx="12738100" cy="7920990"/>
          </a:xfrm>
        </p:grpSpPr>
        <p:sp>
          <p:nvSpPr>
            <p:cNvPr id="5" name="TextBox 5"/>
            <p:cNvSpPr txBox="1"/>
            <p:nvPr/>
          </p:nvSpPr>
          <p:spPr>
            <a:xfrm>
              <a:off x="0" y="834739"/>
              <a:ext cx="12738100" cy="70862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6576" lvl="1" indent="-268288" algn="l">
                <a:lnSpc>
                  <a:spcPts val="3479"/>
                </a:lnSpc>
                <a:buFont typeface="Arial"/>
                <a:buChar char="•"/>
              </a:pPr>
              <a:r>
                <a:rPr lang="en-US" sz="2485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Decisión: </a:t>
              </a:r>
            </a:p>
            <a:p>
              <a:pPr marL="536576" lvl="1" indent="-268288" algn="l">
                <a:lnSpc>
                  <a:spcPts val="3479"/>
                </a:lnSpc>
                <a:buFont typeface="Arial"/>
                <a:buChar char="•"/>
              </a:pPr>
              <a:r>
                <a:rPr lang="en-US" sz="2485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APIM como punto de entrada único a todas las Functions</a:t>
              </a:r>
            </a:p>
            <a:p>
              <a:pPr algn="l">
                <a:lnSpc>
                  <a:spcPts val="3479"/>
                </a:lnSpc>
              </a:pPr>
              <a:endParaRPr lang="en-US" sz="2485">
                <a:solidFill>
                  <a:srgbClr val="D9E3F0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  <a:p>
              <a:pPr marL="536576" lvl="1" indent="-268288" algn="l">
                <a:lnSpc>
                  <a:spcPts val="3479"/>
                </a:lnSpc>
                <a:buFont typeface="Arial"/>
                <a:buChar char="•"/>
              </a:pPr>
              <a:r>
                <a:rPr lang="en-US" sz="2485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Alternativas descartadas:</a:t>
              </a:r>
            </a:p>
            <a:p>
              <a:pPr marL="536576" lvl="1" indent="-268288" algn="l">
                <a:lnSpc>
                  <a:spcPts val="3479"/>
                </a:lnSpc>
                <a:buFont typeface="Arial"/>
                <a:buChar char="•"/>
              </a:pPr>
              <a:r>
                <a:rPr lang="en-US" sz="2485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Acceso directo a Functions → sin seguridad ni control de tráfico</a:t>
              </a:r>
            </a:p>
            <a:p>
              <a:pPr marL="536576" lvl="1" indent="-268288" algn="l">
                <a:lnSpc>
                  <a:spcPts val="3479"/>
                </a:lnSpc>
                <a:buFont typeface="Arial"/>
                <a:buChar char="•"/>
              </a:pPr>
              <a:r>
                <a:rPr lang="en-US" sz="2485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Kong Gateway → fuera del ecosistema Azure, mayor overhead</a:t>
              </a:r>
            </a:p>
            <a:p>
              <a:pPr algn="l">
                <a:lnSpc>
                  <a:spcPts val="3479"/>
                </a:lnSpc>
              </a:pPr>
              <a:endParaRPr lang="en-US" sz="2485">
                <a:solidFill>
                  <a:srgbClr val="D9E3F0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  <a:p>
              <a:pPr marL="536576" lvl="1" indent="-268288" algn="l">
                <a:lnSpc>
                  <a:spcPts val="3479"/>
                </a:lnSpc>
                <a:buFont typeface="Arial"/>
                <a:buChar char="•"/>
              </a:pPr>
              <a:r>
                <a:rPr lang="en-US" sz="2485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Resultado</a:t>
              </a:r>
              <a:r>
                <a:rPr lang="en-US" sz="2485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:</a:t>
              </a:r>
            </a:p>
            <a:p>
              <a:pPr marL="536576" lvl="1" indent="-268288" algn="l">
                <a:lnSpc>
                  <a:spcPts val="3479"/>
                </a:lnSpc>
                <a:buFont typeface="Arial"/>
                <a:buChar char="•"/>
              </a:pPr>
              <a:r>
                <a:rPr lang="en-US" sz="2485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Rate limiting, autenticación y monitoreo unificados</a:t>
              </a:r>
            </a:p>
            <a:p>
              <a:pPr algn="l">
                <a:lnSpc>
                  <a:spcPts val="3479"/>
                </a:lnSpc>
              </a:pPr>
              <a:endParaRPr lang="en-US" sz="2485">
                <a:solidFill>
                  <a:srgbClr val="D9E3F0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  <a:p>
              <a:pPr algn="l">
                <a:lnSpc>
                  <a:spcPts val="3479"/>
                </a:lnSpc>
              </a:pPr>
              <a:endParaRPr lang="en-US" sz="2485">
                <a:solidFill>
                  <a:srgbClr val="D9E3F0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  <a:p>
              <a:pPr algn="l">
                <a:lnSpc>
                  <a:spcPts val="3479"/>
                </a:lnSpc>
              </a:pPr>
              <a:endParaRPr lang="en-US" sz="2485">
                <a:solidFill>
                  <a:srgbClr val="D9E3F0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738100" cy="5787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79"/>
                </a:lnSpc>
              </a:pPr>
              <a:r>
                <a:rPr lang="en-US" sz="2485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ADR-03: Gateway Centralizado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21105" y="2825899"/>
            <a:ext cx="6715059" cy="6178008"/>
          </a:xfrm>
          <a:custGeom>
            <a:avLst/>
            <a:gdLst/>
            <a:ahLst/>
            <a:cxnLst/>
            <a:rect l="l" t="t" r="r" b="b"/>
            <a:pathLst>
              <a:path w="6715059" h="6178008">
                <a:moveTo>
                  <a:pt x="0" y="0"/>
                </a:moveTo>
                <a:lnTo>
                  <a:pt x="6715059" y="0"/>
                </a:lnTo>
                <a:lnTo>
                  <a:pt x="6715059" y="6178008"/>
                </a:lnTo>
                <a:lnTo>
                  <a:pt x="0" y="61780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869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306169" y="771216"/>
            <a:ext cx="14077950" cy="1077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59"/>
              </a:lnSpc>
            </a:pPr>
            <a:r>
              <a:rPr lang="en-US" sz="7599" b="1" spc="-189">
                <a:solidFill>
                  <a:srgbClr val="60C2FF"/>
                </a:solidFill>
                <a:latin typeface="Garet Bold"/>
                <a:ea typeface="Garet Bold"/>
                <a:cs typeface="Garet Bold"/>
                <a:sym typeface="Garet Bold"/>
              </a:rPr>
              <a:t>ADR-04 - Blob Storage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67530" y="3063165"/>
            <a:ext cx="9553575" cy="5940743"/>
            <a:chOff x="0" y="0"/>
            <a:chExt cx="12738100" cy="7920990"/>
          </a:xfrm>
        </p:grpSpPr>
        <p:sp>
          <p:nvSpPr>
            <p:cNvPr id="5" name="TextBox 5"/>
            <p:cNvSpPr txBox="1"/>
            <p:nvPr/>
          </p:nvSpPr>
          <p:spPr>
            <a:xfrm>
              <a:off x="0" y="834739"/>
              <a:ext cx="12738100" cy="70862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6576" lvl="1" indent="-268288" algn="l">
                <a:lnSpc>
                  <a:spcPts val="3479"/>
                </a:lnSpc>
                <a:buFont typeface="Arial"/>
                <a:buChar char="•"/>
              </a:pPr>
              <a:r>
                <a:rPr lang="en-US" sz="2485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Decisión: </a:t>
              </a:r>
            </a:p>
            <a:p>
              <a:pPr marL="536576" lvl="1" indent="-268288" algn="l">
                <a:lnSpc>
                  <a:spcPts val="3479"/>
                </a:lnSpc>
                <a:buFont typeface="Arial"/>
                <a:buChar char="•"/>
              </a:pPr>
              <a:r>
                <a:rPr lang="en-US" sz="2485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Blob Storage para comprobantes, imágenes y estáticos</a:t>
              </a:r>
            </a:p>
            <a:p>
              <a:pPr algn="l">
                <a:lnSpc>
                  <a:spcPts val="3479"/>
                </a:lnSpc>
              </a:pPr>
              <a:endParaRPr lang="en-US" sz="2485">
                <a:solidFill>
                  <a:srgbClr val="D9E3F0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  <a:p>
              <a:pPr marL="536576" lvl="1" indent="-268288" algn="l">
                <a:lnSpc>
                  <a:spcPts val="3479"/>
                </a:lnSpc>
                <a:buFont typeface="Arial"/>
                <a:buChar char="•"/>
              </a:pPr>
              <a:r>
                <a:rPr lang="en-US" sz="2485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Alternativas descartadas:</a:t>
              </a:r>
            </a:p>
            <a:p>
              <a:pPr marL="536576" lvl="1" indent="-268288" algn="l">
                <a:lnSpc>
                  <a:spcPts val="3479"/>
                </a:lnSpc>
                <a:buFont typeface="Arial"/>
                <a:buChar char="•"/>
              </a:pPr>
              <a:r>
                <a:rPr lang="en-US" sz="2485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Firebase Storage → rompe la centralización en Azure</a:t>
              </a:r>
            </a:p>
            <a:p>
              <a:pPr marL="536576" lvl="1" indent="-268288" algn="l">
                <a:lnSpc>
                  <a:spcPts val="3479"/>
                </a:lnSpc>
                <a:buFont typeface="Arial"/>
                <a:buChar char="•"/>
              </a:pPr>
              <a:r>
                <a:rPr lang="en-US" sz="2485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CDN propio → costo y mantenimiento desproporcionado</a:t>
              </a:r>
            </a:p>
            <a:p>
              <a:pPr algn="l">
                <a:lnSpc>
                  <a:spcPts val="3479"/>
                </a:lnSpc>
              </a:pPr>
              <a:endParaRPr lang="en-US" sz="2485">
                <a:solidFill>
                  <a:srgbClr val="D9E3F0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  <a:p>
              <a:pPr marL="536576" lvl="1" indent="-268288" algn="l">
                <a:lnSpc>
                  <a:spcPts val="3479"/>
                </a:lnSpc>
                <a:buFont typeface="Arial"/>
                <a:buChar char="•"/>
              </a:pPr>
              <a:r>
                <a:rPr lang="en-US" sz="2485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Resultado</a:t>
              </a:r>
              <a:r>
                <a:rPr lang="en-US" sz="2485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:</a:t>
              </a:r>
            </a:p>
            <a:p>
              <a:pPr marL="536576" lvl="1" indent="-268288" algn="l">
                <a:lnSpc>
                  <a:spcPts val="3479"/>
                </a:lnSpc>
                <a:buFont typeface="Arial"/>
                <a:buChar char="•"/>
              </a:pPr>
              <a:r>
                <a:rPr lang="en-US" sz="2485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Costo por uso real, sin servidores de archivos dedicados</a:t>
              </a:r>
            </a:p>
            <a:p>
              <a:pPr algn="l">
                <a:lnSpc>
                  <a:spcPts val="3479"/>
                </a:lnSpc>
              </a:pPr>
              <a:endParaRPr lang="en-US" sz="2485">
                <a:solidFill>
                  <a:srgbClr val="D9E3F0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  <a:p>
              <a:pPr algn="l">
                <a:lnSpc>
                  <a:spcPts val="3479"/>
                </a:lnSpc>
              </a:pPr>
              <a:endParaRPr lang="en-US" sz="2485">
                <a:solidFill>
                  <a:srgbClr val="D9E3F0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  <a:p>
              <a:pPr algn="l">
                <a:lnSpc>
                  <a:spcPts val="3479"/>
                </a:lnSpc>
              </a:pPr>
              <a:endParaRPr lang="en-US" sz="2485">
                <a:solidFill>
                  <a:srgbClr val="D9E3F0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738100" cy="5787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79"/>
                </a:lnSpc>
              </a:pPr>
              <a:r>
                <a:rPr lang="en-US" sz="2485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ADR-04: Almacenamiento de Archivos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1649" y="2294756"/>
            <a:ext cx="7242342" cy="6197119"/>
          </a:xfrm>
          <a:custGeom>
            <a:avLst/>
            <a:gdLst/>
            <a:ahLst/>
            <a:cxnLst/>
            <a:rect l="l" t="t" r="r" b="b"/>
            <a:pathLst>
              <a:path w="7242342" h="6197119">
                <a:moveTo>
                  <a:pt x="0" y="0"/>
                </a:moveTo>
                <a:lnTo>
                  <a:pt x="7242342" y="0"/>
                </a:lnTo>
                <a:lnTo>
                  <a:pt x="7242342" y="6197119"/>
                </a:lnTo>
                <a:lnTo>
                  <a:pt x="0" y="61971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104" r="-35341" b="-273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306169" y="771216"/>
            <a:ext cx="14077950" cy="1077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59"/>
              </a:lnSpc>
            </a:pPr>
            <a:r>
              <a:rPr lang="en-US" sz="7599" b="1" spc="-189">
                <a:solidFill>
                  <a:srgbClr val="60C2FF"/>
                </a:solidFill>
                <a:latin typeface="Garet Bold"/>
                <a:ea typeface="Garet Bold"/>
                <a:cs typeface="Garet Bold"/>
                <a:sym typeface="Garet Bold"/>
              </a:rPr>
              <a:t>ADR-05 - Notification Hubs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355839" y="2294756"/>
            <a:ext cx="9553575" cy="7255193"/>
            <a:chOff x="0" y="0"/>
            <a:chExt cx="12738100" cy="9673590"/>
          </a:xfrm>
        </p:grpSpPr>
        <p:sp>
          <p:nvSpPr>
            <p:cNvPr id="5" name="TextBox 5"/>
            <p:cNvSpPr txBox="1"/>
            <p:nvPr/>
          </p:nvSpPr>
          <p:spPr>
            <a:xfrm>
              <a:off x="0" y="834739"/>
              <a:ext cx="12738100" cy="88388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6576" lvl="1" indent="-268288" algn="l">
                <a:lnSpc>
                  <a:spcPts val="3479"/>
                </a:lnSpc>
                <a:buFont typeface="Arial"/>
                <a:buChar char="•"/>
              </a:pPr>
              <a:r>
                <a:rPr lang="en-US" sz="2485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Decisión: </a:t>
              </a:r>
            </a:p>
            <a:p>
              <a:pPr marL="536576" lvl="1" indent="-268288" algn="l">
                <a:lnSpc>
                  <a:spcPts val="3479"/>
                </a:lnSpc>
                <a:buFont typeface="Arial"/>
                <a:buChar char="•"/>
              </a:pPr>
              <a:r>
                <a:rPr lang="en-US" sz="2485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Notification Hubs para push multiplataforma</a:t>
              </a:r>
            </a:p>
            <a:p>
              <a:pPr algn="l">
                <a:lnSpc>
                  <a:spcPts val="3479"/>
                </a:lnSpc>
              </a:pPr>
              <a:endParaRPr lang="en-US" sz="2485">
                <a:solidFill>
                  <a:srgbClr val="D9E3F0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  <a:p>
              <a:pPr marL="536576" lvl="1" indent="-268288" algn="l">
                <a:lnSpc>
                  <a:spcPts val="3479"/>
                </a:lnSpc>
                <a:buFont typeface="Arial"/>
                <a:buChar char="•"/>
              </a:pPr>
              <a:r>
                <a:rPr lang="en-US" sz="2485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Alternativas descartadas:</a:t>
              </a:r>
            </a:p>
            <a:p>
              <a:pPr marL="536576" lvl="1" indent="-268288" algn="l">
                <a:lnSpc>
                  <a:spcPts val="3479"/>
                </a:lnSpc>
                <a:buFont typeface="Arial"/>
                <a:buChar char="•"/>
              </a:pPr>
              <a:r>
                <a:rPr lang="en-US" sz="2485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Firebase Cloud Messaging directo → vendor lock-in fuera de Azure</a:t>
              </a:r>
            </a:p>
            <a:p>
              <a:pPr marL="536576" lvl="1" indent="-268288" algn="l">
                <a:lnSpc>
                  <a:spcPts val="3479"/>
                </a:lnSpc>
                <a:buFont typeface="Arial"/>
                <a:buChar char="•"/>
              </a:pPr>
              <a:r>
                <a:rPr lang="en-US" sz="2485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Solución propia → complejidad alta para Android + iOS simultáneo</a:t>
              </a:r>
            </a:p>
            <a:p>
              <a:pPr algn="l">
                <a:lnSpc>
                  <a:spcPts val="3479"/>
                </a:lnSpc>
              </a:pPr>
              <a:endParaRPr lang="en-US" sz="2485">
                <a:solidFill>
                  <a:srgbClr val="D9E3F0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  <a:p>
              <a:pPr marL="536576" lvl="1" indent="-268288" algn="l">
                <a:lnSpc>
                  <a:spcPts val="3479"/>
                </a:lnSpc>
                <a:buFont typeface="Arial"/>
                <a:buChar char="•"/>
              </a:pPr>
              <a:r>
                <a:rPr lang="en-US" sz="2485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Resultado</a:t>
              </a:r>
              <a:r>
                <a:rPr lang="en-US" sz="2485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:</a:t>
              </a:r>
            </a:p>
            <a:p>
              <a:pPr marL="536576" lvl="1" indent="-268288" algn="l">
                <a:lnSpc>
                  <a:spcPts val="3479"/>
                </a:lnSpc>
                <a:buFont typeface="Arial"/>
                <a:buChar char="•"/>
              </a:pPr>
              <a:r>
                <a:rPr lang="en-US" sz="2485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340 repartidores notificados en tiempo real sin infraestructura adicional</a:t>
              </a:r>
            </a:p>
            <a:p>
              <a:pPr algn="l">
                <a:lnSpc>
                  <a:spcPts val="3479"/>
                </a:lnSpc>
              </a:pPr>
              <a:endParaRPr lang="en-US" sz="2485">
                <a:solidFill>
                  <a:srgbClr val="D9E3F0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  <a:p>
              <a:pPr algn="l">
                <a:lnSpc>
                  <a:spcPts val="3479"/>
                </a:lnSpc>
              </a:pPr>
              <a:endParaRPr lang="en-US" sz="2485">
                <a:solidFill>
                  <a:srgbClr val="D9E3F0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  <a:p>
              <a:pPr algn="l">
                <a:lnSpc>
                  <a:spcPts val="3479"/>
                </a:lnSpc>
              </a:pPr>
              <a:endParaRPr lang="en-US" sz="2485">
                <a:solidFill>
                  <a:srgbClr val="D9E3F0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738100" cy="5787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79"/>
                </a:lnSpc>
              </a:pPr>
              <a:r>
                <a:rPr lang="en-US" sz="2485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ADR-05: Notificaciones en Tiempo Real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42950"/>
            <a:ext cx="6886575" cy="4249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59"/>
              </a:lnSpc>
            </a:pPr>
            <a:r>
              <a:rPr lang="en-US" sz="7599" b="1" spc="-189">
                <a:solidFill>
                  <a:srgbClr val="60C2FF"/>
                </a:solidFill>
                <a:latin typeface="Garet Bold"/>
                <a:ea typeface="Garet Bold"/>
                <a:cs typeface="Garet Bold"/>
                <a:sym typeface="Garet Bold"/>
              </a:rPr>
              <a:t>Solución de Arquitectura Serverless Eficiente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8229600"/>
            <a:ext cx="6886575" cy="1444466"/>
            <a:chOff x="0" y="0"/>
            <a:chExt cx="9182100" cy="1925954"/>
          </a:xfrm>
        </p:grpSpPr>
        <p:sp>
          <p:nvSpPr>
            <p:cNvPr id="4" name="TextBox 4"/>
            <p:cNvSpPr txBox="1"/>
            <p:nvPr/>
          </p:nvSpPr>
          <p:spPr>
            <a:xfrm>
              <a:off x="0" y="-38100"/>
              <a:ext cx="9182100" cy="566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Escalabilidad y Flexibilidad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49934"/>
              <a:ext cx="9182100" cy="11760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La migración a serverless </a:t>
              </a:r>
              <a:r>
                <a:rPr lang="en-US" sz="2400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optimiza el rendimiento</a:t>
              </a:r>
              <a:r>
                <a:rPr lang="en-US" sz="2400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y costos operativos.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96400" y="-8101220"/>
            <a:ext cx="15250896" cy="17734061"/>
            <a:chOff x="0" y="0"/>
            <a:chExt cx="20334528" cy="23645414"/>
          </a:xfrm>
        </p:grpSpPr>
        <p:grpSp>
          <p:nvGrpSpPr>
            <p:cNvPr id="7" name="Group 7"/>
            <p:cNvGrpSpPr/>
            <p:nvPr/>
          </p:nvGrpSpPr>
          <p:grpSpPr>
            <a:xfrm rot="7458190">
              <a:off x="1574682" y="5080128"/>
              <a:ext cx="18147848" cy="11069594"/>
              <a:chOff x="0" y="0"/>
              <a:chExt cx="1476351" cy="90052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76351" cy="900526"/>
              </a:xfrm>
              <a:custGeom>
                <a:avLst/>
                <a:gdLst/>
                <a:ahLst/>
                <a:cxnLst/>
                <a:rect l="l" t="t" r="r" b="b"/>
                <a:pathLst>
                  <a:path w="1476351" h="900526">
                    <a:moveTo>
                      <a:pt x="0" y="0"/>
                    </a:moveTo>
                    <a:lnTo>
                      <a:pt x="1476351" y="0"/>
                    </a:lnTo>
                    <a:lnTo>
                      <a:pt x="1476351" y="900526"/>
                    </a:lnTo>
                    <a:lnTo>
                      <a:pt x="0" y="900526"/>
                    </a:lnTo>
                    <a:close/>
                  </a:path>
                </a:pathLst>
              </a:custGeom>
              <a:solidFill>
                <a:srgbClr val="4A90E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161925"/>
                <a:ext cx="1476351" cy="1062451"/>
              </a:xfrm>
              <a:prstGeom prst="rect">
                <a:avLst/>
              </a:prstGeom>
            </p:spPr>
            <p:txBody>
              <a:bodyPr lIns="123349" tIns="123349" rIns="123349" bIns="123349" rtlCol="0" anchor="ctr"/>
              <a:lstStyle/>
              <a:p>
                <a:pPr marL="0" lvl="0" indent="0" algn="ctr">
                  <a:lnSpc>
                    <a:spcPts val="112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 rot="5400000">
              <a:off x="-22" y="12575798"/>
              <a:ext cx="11069639" cy="11069594"/>
              <a:chOff x="0" y="0"/>
              <a:chExt cx="6350000" cy="634997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solidFill>
                <a:srgbClr val="4A90E2"/>
              </a:solidFill>
            </p:spPr>
          </p:sp>
        </p:grpSp>
        <p:grpSp>
          <p:nvGrpSpPr>
            <p:cNvPr id="12" name="Group 12"/>
            <p:cNvGrpSpPr/>
            <p:nvPr/>
          </p:nvGrpSpPr>
          <p:grpSpPr>
            <a:xfrm>
              <a:off x="943747" y="13519545"/>
              <a:ext cx="9182100" cy="9182100"/>
              <a:chOff x="0" y="0"/>
              <a:chExt cx="812800" cy="812800"/>
            </a:xfrm>
          </p:grpSpPr>
          <p:sp>
            <p:nvSpPr>
              <p:cNvPr id="13" name="Freeform 13" descr="Arquitectura cloud serverless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25187" r="-25187"/>
                </a:stretch>
              </a:blipFill>
            </p:spPr>
          </p:sp>
        </p:grpSp>
      </p:grp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42950"/>
            <a:ext cx="11506200" cy="1077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59"/>
              </a:lnSpc>
            </a:pPr>
            <a:r>
              <a:rPr lang="en-US" sz="7599" b="1" spc="-189">
                <a:solidFill>
                  <a:srgbClr val="60C2FF"/>
                </a:solidFill>
                <a:latin typeface="Garet Bold"/>
                <a:ea typeface="Garet Bold"/>
                <a:cs typeface="Garet Bold"/>
                <a:sym typeface="Garet Bold"/>
              </a:rPr>
              <a:t>Requerimientos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4248150"/>
            <a:ext cx="4010025" cy="2643346"/>
            <a:chOff x="0" y="0"/>
            <a:chExt cx="5346700" cy="3524462"/>
          </a:xfrm>
        </p:grpSpPr>
        <p:sp>
          <p:nvSpPr>
            <p:cNvPr id="4" name="TextBox 4"/>
            <p:cNvSpPr txBox="1"/>
            <p:nvPr/>
          </p:nvSpPr>
          <p:spPr>
            <a:xfrm>
              <a:off x="0" y="-57150"/>
              <a:ext cx="5346700" cy="6735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</a:pPr>
              <a:r>
                <a:rPr lang="en-US" sz="2799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Disponibilidad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818938"/>
              <a:ext cx="5346700" cy="27055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</a:pPr>
              <a:r>
                <a:rPr lang="en-US" sz="2799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Se busca </a:t>
              </a:r>
              <a:r>
                <a:rPr lang="en-US" sz="2799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99.9% de disponibilidad</a:t>
              </a:r>
              <a:r>
                <a:rPr lang="en-US" sz="2799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mensual, limitando las caídas a un máximo de 44 minutos.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19850" y="4248150"/>
            <a:ext cx="4010025" cy="3138646"/>
            <a:chOff x="0" y="0"/>
            <a:chExt cx="5346700" cy="4184862"/>
          </a:xfrm>
        </p:grpSpPr>
        <p:sp>
          <p:nvSpPr>
            <p:cNvPr id="7" name="TextBox 7"/>
            <p:cNvSpPr txBox="1"/>
            <p:nvPr/>
          </p:nvSpPr>
          <p:spPr>
            <a:xfrm>
              <a:off x="0" y="-57150"/>
              <a:ext cx="5346700" cy="6735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</a:pPr>
              <a:r>
                <a:rPr lang="en-US" sz="2799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Latencia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818938"/>
              <a:ext cx="5346700" cy="33659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</a:pPr>
              <a:r>
                <a:rPr lang="en-US" sz="2799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La latencia de la API debe ser </a:t>
              </a:r>
              <a:r>
                <a:rPr lang="en-US" sz="2799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menos de 800ms</a:t>
              </a:r>
              <a:r>
                <a:rPr lang="en-US" sz="2799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en el percentil P95 para mejorar la experiencia del usuario.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172950" y="4248150"/>
            <a:ext cx="4010025" cy="3633946"/>
            <a:chOff x="0" y="0"/>
            <a:chExt cx="5346700" cy="4845262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57150"/>
              <a:ext cx="5346700" cy="6735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</a:pPr>
              <a:r>
                <a:rPr lang="en-US" sz="2799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Escalabilidad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818938"/>
              <a:ext cx="5346700" cy="40263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</a:pPr>
              <a:r>
                <a:rPr lang="en-US" sz="2799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Se requiere </a:t>
              </a:r>
              <a:r>
                <a:rPr lang="en-US" sz="2799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escalabilidad automática</a:t>
              </a:r>
              <a:r>
                <a:rPr lang="en-US" sz="2799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para manejar hasta 500 solicitudes por segundo sin intervención manual.</a:t>
              </a:r>
            </a:p>
          </p:txBody>
        </p:sp>
      </p:grpSp>
      <p:sp>
        <p:nvSpPr>
          <p:cNvPr id="12" name="Freeform 12" descr="Dashboard métricas y rendimiento API"/>
          <p:cNvSpPr/>
          <p:nvPr/>
        </p:nvSpPr>
        <p:spPr>
          <a:xfrm>
            <a:off x="11906250" y="1428750"/>
            <a:ext cx="5905500" cy="5905500"/>
          </a:xfrm>
          <a:custGeom>
            <a:avLst/>
            <a:gdLst/>
            <a:ahLst/>
            <a:cxnLst/>
            <a:rect l="l" t="t" r="r" b="b"/>
            <a:pathLst>
              <a:path w="5905500" h="5905500">
                <a:moveTo>
                  <a:pt x="0" y="0"/>
                </a:moveTo>
                <a:lnTo>
                  <a:pt x="5905500" y="0"/>
                </a:lnTo>
                <a:lnTo>
                  <a:pt x="5905500" y="5905500"/>
                </a:lnTo>
                <a:lnTo>
                  <a:pt x="0" y="5905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046" r="-25046"/>
            </a:stretch>
          </a:blipFill>
        </p:spPr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42950"/>
            <a:ext cx="11506200" cy="1077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59"/>
              </a:lnSpc>
            </a:pPr>
            <a:r>
              <a:rPr lang="en-US" sz="7599" b="1" spc="-189">
                <a:solidFill>
                  <a:srgbClr val="60C2FF"/>
                </a:solidFill>
                <a:latin typeface="Garet Bold"/>
                <a:ea typeface="Garet Bold"/>
                <a:cs typeface="Garet Bold"/>
                <a:sym typeface="Garet Bold"/>
              </a:rPr>
              <a:t>Beneficios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2172950" y="7834312"/>
            <a:ext cx="5448300" cy="1638262"/>
            <a:chOff x="0" y="0"/>
            <a:chExt cx="7264400" cy="2184349"/>
          </a:xfrm>
        </p:grpSpPr>
        <p:sp>
          <p:nvSpPr>
            <p:cNvPr id="4" name="TextBox 4"/>
            <p:cNvSpPr txBox="1"/>
            <p:nvPr/>
          </p:nvSpPr>
          <p:spPr>
            <a:xfrm>
              <a:off x="0" y="-38100"/>
              <a:ext cx="7264400" cy="566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Mejora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54380"/>
              <a:ext cx="7264400" cy="14299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37"/>
                </a:lnSpc>
                <a:spcBef>
                  <a:spcPct val="0"/>
                </a:spcBef>
              </a:pPr>
              <a:r>
                <a:rPr lang="en-US" sz="2026" u="none" strike="noStrike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La implementación de notificaciones confiables en tiempo real eleva la </a:t>
              </a:r>
              <a:r>
                <a:rPr lang="en-US" sz="2026" b="1" u="none" strike="noStrike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satisfacción del cliente</a:t>
              </a:r>
              <a:r>
                <a:rPr lang="en-US" sz="2026" u="none" strike="noStrike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y mejora la experiencia general del usuario.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734675" y="7848638"/>
            <a:ext cx="585578" cy="377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7"/>
              </a:lnSpc>
            </a:pPr>
            <a:r>
              <a:rPr lang="en-US" sz="2026" b="1">
                <a:solidFill>
                  <a:srgbClr val="D9E3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02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172950" y="5148262"/>
            <a:ext cx="5448300" cy="1638262"/>
            <a:chOff x="0" y="0"/>
            <a:chExt cx="7264400" cy="2184349"/>
          </a:xfrm>
        </p:grpSpPr>
        <p:sp>
          <p:nvSpPr>
            <p:cNvPr id="8" name="TextBox 8"/>
            <p:cNvSpPr txBox="1"/>
            <p:nvPr/>
          </p:nvSpPr>
          <p:spPr>
            <a:xfrm>
              <a:off x="0" y="-38100"/>
              <a:ext cx="7264400" cy="566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Reducción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754380"/>
              <a:ext cx="7264400" cy="14299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37"/>
                </a:lnSpc>
                <a:spcBef>
                  <a:spcPct val="0"/>
                </a:spcBef>
              </a:pPr>
              <a:r>
                <a:rPr lang="en-US" sz="2026" u="none" strike="noStrike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La eliminación de costos fijos del servidor dedicado optimiza los </a:t>
              </a:r>
              <a:r>
                <a:rPr lang="en-US" sz="2026" b="1" u="none" strike="noStrike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recursos financieros</a:t>
              </a:r>
              <a:r>
                <a:rPr lang="en-US" sz="2026" u="none" strike="noStrike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de RapidGo, aumentando la eficiencia operativa.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734675" y="5162588"/>
            <a:ext cx="585578" cy="377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7"/>
              </a:lnSpc>
            </a:pPr>
            <a:r>
              <a:rPr lang="en-US" sz="2026" b="1">
                <a:solidFill>
                  <a:srgbClr val="D9E3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01</a:t>
            </a:r>
          </a:p>
        </p:txBody>
      </p:sp>
      <p:sp>
        <p:nvSpPr>
          <p:cNvPr id="11" name="Freeform 11" descr="Gráficas de crecimiento y beneficios"/>
          <p:cNvSpPr/>
          <p:nvPr/>
        </p:nvSpPr>
        <p:spPr>
          <a:xfrm>
            <a:off x="666750" y="666750"/>
            <a:ext cx="8572500" cy="7143750"/>
          </a:xfrm>
          <a:custGeom>
            <a:avLst/>
            <a:gdLst/>
            <a:ahLst/>
            <a:cxnLst/>
            <a:rect l="l" t="t" r="r" b="b"/>
            <a:pathLst>
              <a:path w="8572500" h="7143750">
                <a:moveTo>
                  <a:pt x="0" y="0"/>
                </a:moveTo>
                <a:lnTo>
                  <a:pt x="8572500" y="0"/>
                </a:lnTo>
                <a:lnTo>
                  <a:pt x="8572500" y="7143750"/>
                </a:lnTo>
                <a:lnTo>
                  <a:pt x="0" y="7143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479" r="-8479"/>
            </a:stretch>
          </a:blipFill>
        </p:spPr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7826375"/>
            <a:ext cx="873125" cy="879670"/>
            <a:chOff x="0" y="0"/>
            <a:chExt cx="812800" cy="8188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8893"/>
            </a:xfrm>
            <a:custGeom>
              <a:avLst/>
              <a:gdLst/>
              <a:ahLst/>
              <a:cxnLst/>
              <a:rect l="l" t="t" r="r" b="b"/>
              <a:pathLst>
                <a:path w="812800" h="818893">
                  <a:moveTo>
                    <a:pt x="406400" y="0"/>
                  </a:moveTo>
                  <a:cubicBezTo>
                    <a:pt x="181951" y="0"/>
                    <a:pt x="0" y="183316"/>
                    <a:pt x="0" y="409447"/>
                  </a:cubicBezTo>
                  <a:cubicBezTo>
                    <a:pt x="0" y="635578"/>
                    <a:pt x="181951" y="818893"/>
                    <a:pt x="406400" y="818893"/>
                  </a:cubicBezTo>
                  <a:cubicBezTo>
                    <a:pt x="630849" y="818893"/>
                    <a:pt x="812800" y="635578"/>
                    <a:pt x="812800" y="409447"/>
                  </a:cubicBezTo>
                  <a:cubicBezTo>
                    <a:pt x="812800" y="1833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90E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29146"/>
              <a:ext cx="660400" cy="712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3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66750" y="742950"/>
            <a:ext cx="6886575" cy="4249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59"/>
              </a:lnSpc>
            </a:pPr>
            <a:r>
              <a:rPr lang="en-US" sz="7599" b="1" spc="-189">
                <a:solidFill>
                  <a:srgbClr val="60C2FF"/>
                </a:solidFill>
                <a:latin typeface="Garet Bold"/>
                <a:ea typeface="Garet Bold"/>
                <a:cs typeface="Garet Bold"/>
                <a:sym typeface="Garet Bold"/>
              </a:rPr>
              <a:t>Conclusiones sobre la arquitectura serverless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734675" y="7834312"/>
            <a:ext cx="6886575" cy="1784223"/>
            <a:chOff x="0" y="0"/>
            <a:chExt cx="9182100" cy="2378964"/>
          </a:xfrm>
        </p:grpSpPr>
        <p:sp>
          <p:nvSpPr>
            <p:cNvPr id="7" name="TextBox 7"/>
            <p:cNvSpPr txBox="1"/>
            <p:nvPr/>
          </p:nvSpPr>
          <p:spPr>
            <a:xfrm>
              <a:off x="0" y="-47625"/>
              <a:ext cx="9182100" cy="5642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8"/>
                </a:lnSpc>
              </a:pPr>
              <a:r>
                <a:rPr lang="en-US" sz="2370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Crecimiento Sostenible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733171"/>
              <a:ext cx="9182100" cy="16457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34"/>
                </a:lnSpc>
              </a:pPr>
              <a:r>
                <a:rPr lang="en-US" sz="2310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La integración eficiente mejora la experiencia del cliente y </a:t>
              </a:r>
              <a:r>
                <a:rPr lang="en-US" sz="2310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facilita el crecimiento sostenible</a:t>
              </a:r>
              <a:r>
                <a:rPr lang="en-US" sz="2310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de la plataforma a largo plazo.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96400" y="5140325"/>
            <a:ext cx="873125" cy="879670"/>
            <a:chOff x="0" y="0"/>
            <a:chExt cx="812800" cy="8188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8893"/>
            </a:xfrm>
            <a:custGeom>
              <a:avLst/>
              <a:gdLst/>
              <a:ahLst/>
              <a:cxnLst/>
              <a:rect l="l" t="t" r="r" b="b"/>
              <a:pathLst>
                <a:path w="812800" h="818893">
                  <a:moveTo>
                    <a:pt x="406400" y="0"/>
                  </a:moveTo>
                  <a:cubicBezTo>
                    <a:pt x="181951" y="0"/>
                    <a:pt x="0" y="183316"/>
                    <a:pt x="0" y="409447"/>
                  </a:cubicBezTo>
                  <a:cubicBezTo>
                    <a:pt x="0" y="635578"/>
                    <a:pt x="181951" y="818893"/>
                    <a:pt x="406400" y="818893"/>
                  </a:cubicBezTo>
                  <a:cubicBezTo>
                    <a:pt x="630849" y="818893"/>
                    <a:pt x="812800" y="635578"/>
                    <a:pt x="812800" y="409447"/>
                  </a:cubicBezTo>
                  <a:cubicBezTo>
                    <a:pt x="812800" y="1833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90E2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29146"/>
              <a:ext cx="660400" cy="712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3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734675" y="5148262"/>
            <a:ext cx="6886575" cy="1784223"/>
            <a:chOff x="0" y="0"/>
            <a:chExt cx="9182100" cy="2378964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47625"/>
              <a:ext cx="9182100" cy="5642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8"/>
                </a:lnSpc>
              </a:pPr>
              <a:r>
                <a:rPr lang="en-US" sz="2370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Costos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33171"/>
              <a:ext cx="9182100" cy="16457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34"/>
                </a:lnSpc>
              </a:pPr>
              <a:r>
                <a:rPr lang="en-US" sz="2310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El modelo de </a:t>
              </a:r>
              <a:r>
                <a:rPr lang="en-US" sz="2310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pago por uso</a:t>
              </a:r>
              <a:r>
                <a:rPr lang="en-US" sz="2310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optimiza los gastos operativos, eliminando costos fijos asociados a servidores dedicados.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296400" y="2457450"/>
            <a:ext cx="873125" cy="879670"/>
            <a:chOff x="0" y="0"/>
            <a:chExt cx="812800" cy="81889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8893"/>
            </a:xfrm>
            <a:custGeom>
              <a:avLst/>
              <a:gdLst/>
              <a:ahLst/>
              <a:cxnLst/>
              <a:rect l="l" t="t" r="r" b="b"/>
              <a:pathLst>
                <a:path w="812800" h="818893">
                  <a:moveTo>
                    <a:pt x="406400" y="0"/>
                  </a:moveTo>
                  <a:cubicBezTo>
                    <a:pt x="181951" y="0"/>
                    <a:pt x="0" y="183316"/>
                    <a:pt x="0" y="409447"/>
                  </a:cubicBezTo>
                  <a:cubicBezTo>
                    <a:pt x="0" y="635578"/>
                    <a:pt x="181951" y="818893"/>
                    <a:pt x="406400" y="818893"/>
                  </a:cubicBezTo>
                  <a:cubicBezTo>
                    <a:pt x="630849" y="818893"/>
                    <a:pt x="812800" y="635578"/>
                    <a:pt x="812800" y="409447"/>
                  </a:cubicBezTo>
                  <a:cubicBezTo>
                    <a:pt x="812800" y="1833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90E2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29146"/>
              <a:ext cx="660400" cy="712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3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734675" y="2465388"/>
            <a:ext cx="6886575" cy="1812798"/>
            <a:chOff x="0" y="0"/>
            <a:chExt cx="9182100" cy="2417064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47625"/>
              <a:ext cx="9182100" cy="5642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8"/>
                </a:lnSpc>
              </a:pPr>
              <a:r>
                <a:rPr lang="en-US" sz="2370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Escalabilidad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733171"/>
              <a:ext cx="9182100" cy="16838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34"/>
                </a:lnSpc>
              </a:pPr>
              <a:r>
                <a:rPr lang="en-US" sz="2310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La arquitectura serverless permite </a:t>
              </a:r>
              <a:r>
                <a:rPr lang="en-US" sz="2310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escalar automáticamente</a:t>
              </a:r>
              <a:r>
                <a:rPr lang="en-US" sz="2310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según la demanda, eliminando las limitaciones de la infraestructura monolítica.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9490911" y="2651540"/>
            <a:ext cx="484102" cy="427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4"/>
              </a:lnSpc>
            </a:pPr>
            <a:r>
              <a:rPr lang="en-US" sz="2310" b="1">
                <a:solidFill>
                  <a:srgbClr val="D9E3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90911" y="5334415"/>
            <a:ext cx="484102" cy="427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4"/>
              </a:lnSpc>
            </a:pPr>
            <a:r>
              <a:rPr lang="en-US" sz="2310" b="1">
                <a:solidFill>
                  <a:srgbClr val="D9E3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90911" y="8020245"/>
            <a:ext cx="484102" cy="427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4"/>
              </a:lnSpc>
            </a:pPr>
            <a:r>
              <a:rPr lang="en-US" sz="2310" b="1">
                <a:solidFill>
                  <a:srgbClr val="D9E3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3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7199954"/>
            <a:ext cx="7191375" cy="1571148"/>
            <a:chOff x="0" y="0"/>
            <a:chExt cx="9588500" cy="2094864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9588500" cy="5156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Medellín, Colombia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770572"/>
              <a:ext cx="9588500" cy="5156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+57 300 000 0000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579244"/>
              <a:ext cx="9588500" cy="5156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D9E3F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contacto@rapidgo.com.co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96400" y="674684"/>
            <a:ext cx="7191375" cy="1781183"/>
            <a:chOff x="0" y="0"/>
            <a:chExt cx="9588500" cy="2374910"/>
          </a:xfrm>
        </p:grpSpPr>
        <p:sp>
          <p:nvSpPr>
            <p:cNvPr id="7" name="TextBox 7"/>
            <p:cNvSpPr txBox="1"/>
            <p:nvPr/>
          </p:nvSpPr>
          <p:spPr>
            <a:xfrm>
              <a:off x="0" y="76200"/>
              <a:ext cx="9588500" cy="14622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60"/>
                </a:lnSpc>
                <a:spcBef>
                  <a:spcPct val="0"/>
                </a:spcBef>
              </a:pPr>
              <a:r>
                <a:rPr lang="en-US" sz="7600" b="1" u="none" strike="noStrike" spc="-190">
                  <a:solidFill>
                    <a:srgbClr val="60C2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Contacto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825000"/>
              <a:ext cx="9588500" cy="5499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</a:pPr>
              <a:r>
                <a:rPr lang="en-US" sz="2400" b="1">
                  <a:solidFill>
                    <a:srgbClr val="D9E3F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RAPIDGO SERVERLESS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9470904" y="-5630646"/>
            <a:ext cx="17734061" cy="15250896"/>
            <a:chOff x="0" y="0"/>
            <a:chExt cx="23645414" cy="20334528"/>
          </a:xfrm>
        </p:grpSpPr>
        <p:grpSp>
          <p:nvGrpSpPr>
            <p:cNvPr id="10" name="Group 10"/>
            <p:cNvGrpSpPr/>
            <p:nvPr/>
          </p:nvGrpSpPr>
          <p:grpSpPr>
            <a:xfrm rot="2058190">
              <a:off x="1541001" y="4151125"/>
              <a:ext cx="18147848" cy="11069594"/>
              <a:chOff x="0" y="0"/>
              <a:chExt cx="1476351" cy="900526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476351" cy="900526"/>
              </a:xfrm>
              <a:custGeom>
                <a:avLst/>
                <a:gdLst/>
                <a:ahLst/>
                <a:cxnLst/>
                <a:rect l="l" t="t" r="r" b="b"/>
                <a:pathLst>
                  <a:path w="1476351" h="900526">
                    <a:moveTo>
                      <a:pt x="0" y="0"/>
                    </a:moveTo>
                    <a:lnTo>
                      <a:pt x="1476351" y="0"/>
                    </a:lnTo>
                    <a:lnTo>
                      <a:pt x="1476351" y="900526"/>
                    </a:lnTo>
                    <a:lnTo>
                      <a:pt x="0" y="900526"/>
                    </a:lnTo>
                    <a:close/>
                  </a:path>
                </a:pathLst>
              </a:custGeom>
              <a:solidFill>
                <a:srgbClr val="4A90E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161925"/>
                <a:ext cx="1476351" cy="1062451"/>
              </a:xfrm>
              <a:prstGeom prst="rect">
                <a:avLst/>
              </a:prstGeom>
            </p:spPr>
            <p:txBody>
              <a:bodyPr lIns="123349" tIns="123349" rIns="123349" bIns="123349" rtlCol="0" anchor="ctr"/>
              <a:lstStyle/>
              <a:p>
                <a:pPr marL="0" lvl="0" indent="0" algn="ctr">
                  <a:lnSpc>
                    <a:spcPts val="112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>
              <a:grpSpLocks noChangeAspect="1"/>
            </p:cNvGrpSpPr>
            <p:nvPr/>
          </p:nvGrpSpPr>
          <p:grpSpPr>
            <a:xfrm>
              <a:off x="12575776" y="9264934"/>
              <a:ext cx="11069639" cy="11069594"/>
              <a:chOff x="0" y="0"/>
              <a:chExt cx="6350000" cy="634997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solidFill>
                <a:srgbClr val="4A90E2"/>
              </a:solidFill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13519545" y="10208681"/>
              <a:ext cx="9182100" cy="9182100"/>
              <a:chOff x="0" y="0"/>
              <a:chExt cx="812800" cy="812800"/>
            </a:xfrm>
          </p:grpSpPr>
          <p:sp>
            <p:nvSpPr>
              <p:cNvPr id="16" name="Freeform 16" descr="Repartidor de delivery RapidGo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25046" r="-25046"/>
                </a:stretch>
              </a:blipFill>
            </p:spPr>
          </p:sp>
        </p:grpSp>
      </p:grp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753</Words>
  <Application>Microsoft Office PowerPoint</Application>
  <PresentationFormat>Personalizado</PresentationFormat>
  <Paragraphs>136</Paragraphs>
  <Slides>17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17</vt:i4>
      </vt:variant>
    </vt:vector>
  </HeadingPairs>
  <TitlesOfParts>
    <vt:vector size="26" baseType="lpstr">
      <vt:lpstr>Calibri</vt:lpstr>
      <vt:lpstr>Aptos</vt:lpstr>
      <vt:lpstr>Gelasio</vt:lpstr>
      <vt:lpstr>Garet Bold</vt:lpstr>
      <vt:lpstr>Helvetica World Bold</vt:lpstr>
      <vt:lpstr>Helvetica World</vt:lpstr>
      <vt:lpstr>Arial</vt:lpstr>
      <vt:lpstr>Office Theme</vt:lpstr>
      <vt:lpstr>1_Office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nube</dc:title>
  <dc:creator>Brayan Jaramillo</dc:creator>
  <dc:description>Presentación - Backend Arquitectura Serverless</dc:description>
  <cp:lastModifiedBy>Brayan Jaramillo</cp:lastModifiedBy>
  <cp:revision>2</cp:revision>
  <dcterms:created xsi:type="dcterms:W3CDTF">2006-08-16T00:00:00Z</dcterms:created>
  <dcterms:modified xsi:type="dcterms:W3CDTF">2026-05-29T16:57:28Z</dcterms:modified>
  <dc:identifier>DAHK6zoifDs</dc:identifier>
</cp:coreProperties>
</file>